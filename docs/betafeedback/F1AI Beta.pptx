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72" r:id="rId6"/>
    <p:sldId id="273" r:id="rId7"/>
    <p:sldId id="260" r:id="rId8"/>
    <p:sldId id="261" r:id="rId9"/>
    <p:sldId id="275" r:id="rId10"/>
    <p:sldId id="262" r:id="rId11"/>
    <p:sldId id="270" r:id="rId12"/>
    <p:sldId id="271" r:id="rId13"/>
    <p:sldId id="279" r:id="rId14"/>
    <p:sldId id="263" r:id="rId15"/>
    <p:sldId id="264" r:id="rId16"/>
    <p:sldId id="282" r:id="rId17"/>
    <p:sldId id="276" r:id="rId18"/>
    <p:sldId id="277" r:id="rId19"/>
    <p:sldId id="278" r:id="rId20"/>
    <p:sldId id="281" r:id="rId21"/>
    <p:sldId id="280" r:id="rId22"/>
    <p:sldId id="265" r:id="rId23"/>
    <p:sldId id="266" r:id="rId24"/>
    <p:sldId id="268" r:id="rId25"/>
    <p:sldId id="267" r:id="rId26"/>
    <p:sldId id="269" r:id="rId2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62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14F65-4D02-535A-6D46-210DDC8DEAE0}" v="230" dt="2026-03-04T14:48:38.249"/>
    <p1510:client id="{5126098F-4AE9-EF5E-198F-653788E1D330}" v="329" dt="2026-03-06T13:47:33.173"/>
    <p1510:client id="{67441DAB-A1A3-AD59-320B-EBD58A128BEE}" v="11" dt="2026-03-06T13:28:30.199"/>
    <p1510:client id="{810E6439-B217-14C9-2B21-B49D1AAA6D79}" v="2" dt="2026-03-05T15:49:52.354"/>
    <p1510:client id="{91FC7CFE-46BB-78AB-3342-A92D53F6170A}" v="3475" dt="2026-03-05T16:41:44.316"/>
    <p1510:client id="{946169E0-AA2E-AD6B-8A0D-57BA1F4709CF}" v="1043" dt="2026-03-06T13:47:03.592"/>
    <p1510:client id="{BDDA5B72-4B72-06C5-45A2-4FEFECA78ED1}" v="35" dt="2026-03-06T12:54:53.326"/>
    <p1510:client id="{DF79BD88-7D76-46CE-AF72-F9C67706BDD2}" v="669" dt="2026-03-04T14:06:03.5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07230E-2B20-48A9-B139-36EF97D56AD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DA6D011-A0CC-41B5-BFE0-E936E7912A6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Due to our client being IBM, we had a lot of </a:t>
          </a:r>
          <a:r>
            <a:rPr lang="en-GB">
              <a:latin typeface="Calibri Light" panose="020F0302020204030204"/>
            </a:rPr>
            <a:t>freedom regarding</a:t>
          </a:r>
          <a:r>
            <a:rPr lang="en-GB"/>
            <a:t> the choices we can make for this project.</a:t>
          </a:r>
          <a:r>
            <a:rPr lang="en-GB">
              <a:latin typeface="Calibri Light" panose="020F0302020204030204"/>
            </a:rPr>
            <a:t> </a:t>
          </a:r>
          <a:endParaRPr lang="en-US"/>
        </a:p>
      </dgm:t>
    </dgm:pt>
    <dgm:pt modelId="{830FC7F6-9AEC-4870-99F7-0296A3E04EE6}" type="parTrans" cxnId="{4C3CF287-3E1B-48D4-B671-3382F17EC376}">
      <dgm:prSet/>
      <dgm:spPr/>
      <dgm:t>
        <a:bodyPr/>
        <a:lstStyle/>
        <a:p>
          <a:endParaRPr lang="en-US"/>
        </a:p>
      </dgm:t>
    </dgm:pt>
    <dgm:pt modelId="{BF615189-15F4-47B9-AC00-9D81F1055D66}" type="sibTrans" cxnId="{4C3CF287-3E1B-48D4-B671-3382F17EC376}">
      <dgm:prSet/>
      <dgm:spPr/>
      <dgm:t>
        <a:bodyPr/>
        <a:lstStyle/>
        <a:p>
          <a:endParaRPr lang="en-US"/>
        </a:p>
      </dgm:t>
    </dgm:pt>
    <dgm:pt modelId="{9E0D3E7B-D426-41C0-B246-64F448E7225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In order to help us make more informed decisions, </a:t>
          </a:r>
          <a:r>
            <a:rPr lang="en-GB">
              <a:latin typeface="Calibri Light" panose="020F0302020204030204"/>
            </a:rPr>
            <a:t>we developed</a:t>
          </a:r>
          <a:r>
            <a:rPr lang="en-GB"/>
            <a:t> a survey to help us make better </a:t>
          </a:r>
          <a:r>
            <a:rPr lang="en-GB">
              <a:latin typeface="Calibri Light" panose="020F0302020204030204"/>
            </a:rPr>
            <a:t>informed decisions</a:t>
          </a:r>
          <a:r>
            <a:rPr lang="en-GB"/>
            <a:t>.</a:t>
          </a:r>
          <a:endParaRPr lang="en-US"/>
        </a:p>
      </dgm:t>
    </dgm:pt>
    <dgm:pt modelId="{1D8BC39A-1778-43D5-ADC2-C194531B03F8}" type="parTrans" cxnId="{C1CD2FC5-5F70-4052-AC99-5D05592D7E9B}">
      <dgm:prSet/>
      <dgm:spPr/>
      <dgm:t>
        <a:bodyPr/>
        <a:lstStyle/>
        <a:p>
          <a:endParaRPr lang="en-US"/>
        </a:p>
      </dgm:t>
    </dgm:pt>
    <dgm:pt modelId="{0EE1B545-A51D-42C2-AE3F-20DF5DDE1BA6}" type="sibTrans" cxnId="{C1CD2FC5-5F70-4052-AC99-5D05592D7E9B}">
      <dgm:prSet/>
      <dgm:spPr/>
      <dgm:t>
        <a:bodyPr/>
        <a:lstStyle/>
        <a:p>
          <a:endParaRPr lang="en-US"/>
        </a:p>
      </dgm:t>
    </dgm:pt>
    <dgm:pt modelId="{99EF93DA-19DC-4291-B451-1B2853EED34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An in-depth analysis of the results curated from </a:t>
          </a:r>
          <a:r>
            <a:rPr lang="en-GB">
              <a:latin typeface="Calibri Light" panose="020F0302020204030204"/>
            </a:rPr>
            <a:t>this survey</a:t>
          </a:r>
          <a:r>
            <a:rPr lang="en-GB"/>
            <a:t> can be found here</a:t>
          </a:r>
          <a:r>
            <a:rPr lang="en-GB">
              <a:latin typeface="Calibri Light" panose="020F0302020204030204"/>
            </a:rPr>
            <a:t>.</a:t>
          </a:r>
          <a:endParaRPr lang="en-US"/>
        </a:p>
      </dgm:t>
    </dgm:pt>
    <dgm:pt modelId="{CBE7FF0B-BE0C-4ED5-A24A-357D8C40ADA1}" type="parTrans" cxnId="{251CFB42-189B-4740-B807-3CE061E80A38}">
      <dgm:prSet/>
      <dgm:spPr/>
      <dgm:t>
        <a:bodyPr/>
        <a:lstStyle/>
        <a:p>
          <a:endParaRPr lang="en-US"/>
        </a:p>
      </dgm:t>
    </dgm:pt>
    <dgm:pt modelId="{0DCB8716-DFE4-4D28-B456-38E9358C50AF}" type="sibTrans" cxnId="{251CFB42-189B-4740-B807-3CE061E80A38}">
      <dgm:prSet/>
      <dgm:spPr/>
      <dgm:t>
        <a:bodyPr/>
        <a:lstStyle/>
        <a:p>
          <a:endParaRPr lang="en-US"/>
        </a:p>
      </dgm:t>
    </dgm:pt>
    <dgm:pt modelId="{98D513D4-B69C-45EC-9454-A5DA96622654}" type="pres">
      <dgm:prSet presAssocID="{2007230E-2B20-48A9-B139-36EF97D56AD5}" presName="root" presStyleCnt="0">
        <dgm:presLayoutVars>
          <dgm:dir/>
          <dgm:resizeHandles val="exact"/>
        </dgm:presLayoutVars>
      </dgm:prSet>
      <dgm:spPr/>
    </dgm:pt>
    <dgm:pt modelId="{EEF88C95-6440-4DF4-8AE4-12C3F58C3437}" type="pres">
      <dgm:prSet presAssocID="{BDA6D011-A0CC-41B5-BFE0-E936E7912A65}" presName="compNode" presStyleCnt="0"/>
      <dgm:spPr/>
    </dgm:pt>
    <dgm:pt modelId="{351AFBA8-9313-4107-92E1-B992C2ED798D}" type="pres">
      <dgm:prSet presAssocID="{BDA6D011-A0CC-41B5-BFE0-E936E7912A6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EC30A07-85A2-44AB-82CD-CA31ACA85E73}" type="pres">
      <dgm:prSet presAssocID="{BDA6D011-A0CC-41B5-BFE0-E936E7912A65}" presName="spaceRect" presStyleCnt="0"/>
      <dgm:spPr/>
    </dgm:pt>
    <dgm:pt modelId="{2ED12FCB-C8ED-4693-A14B-BF7A438FD5EB}" type="pres">
      <dgm:prSet presAssocID="{BDA6D011-A0CC-41B5-BFE0-E936E7912A65}" presName="textRect" presStyleLbl="revTx" presStyleIdx="0" presStyleCnt="3">
        <dgm:presLayoutVars>
          <dgm:chMax val="1"/>
          <dgm:chPref val="1"/>
        </dgm:presLayoutVars>
      </dgm:prSet>
      <dgm:spPr/>
    </dgm:pt>
    <dgm:pt modelId="{8CF951E0-AE22-4A9D-B9C6-06846884D3A1}" type="pres">
      <dgm:prSet presAssocID="{BF615189-15F4-47B9-AC00-9D81F1055D66}" presName="sibTrans" presStyleCnt="0"/>
      <dgm:spPr/>
    </dgm:pt>
    <dgm:pt modelId="{C54E9662-5E2A-4B64-9C6A-B28593C6BD9B}" type="pres">
      <dgm:prSet presAssocID="{9E0D3E7B-D426-41C0-B246-64F448E72251}" presName="compNode" presStyleCnt="0"/>
      <dgm:spPr/>
    </dgm:pt>
    <dgm:pt modelId="{432AAD56-CB8C-48FB-97BB-7EFB53A06666}" type="pres">
      <dgm:prSet presAssocID="{9E0D3E7B-D426-41C0-B246-64F448E7225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CE43789C-A80D-47D0-A60D-0780BE4EEE1F}" type="pres">
      <dgm:prSet presAssocID="{9E0D3E7B-D426-41C0-B246-64F448E72251}" presName="spaceRect" presStyleCnt="0"/>
      <dgm:spPr/>
    </dgm:pt>
    <dgm:pt modelId="{9C701FE1-89C2-4F8E-888D-B6A396EBB771}" type="pres">
      <dgm:prSet presAssocID="{9E0D3E7B-D426-41C0-B246-64F448E72251}" presName="textRect" presStyleLbl="revTx" presStyleIdx="1" presStyleCnt="3">
        <dgm:presLayoutVars>
          <dgm:chMax val="1"/>
          <dgm:chPref val="1"/>
        </dgm:presLayoutVars>
      </dgm:prSet>
      <dgm:spPr/>
    </dgm:pt>
    <dgm:pt modelId="{D8551369-F0F5-432E-9001-C480DC70842D}" type="pres">
      <dgm:prSet presAssocID="{0EE1B545-A51D-42C2-AE3F-20DF5DDE1BA6}" presName="sibTrans" presStyleCnt="0"/>
      <dgm:spPr/>
    </dgm:pt>
    <dgm:pt modelId="{D527A12D-F8AD-4ECF-BAFA-BC8E7B6FA649}" type="pres">
      <dgm:prSet presAssocID="{99EF93DA-19DC-4291-B451-1B2853EED344}" presName="compNode" presStyleCnt="0"/>
      <dgm:spPr/>
    </dgm:pt>
    <dgm:pt modelId="{C379DCCD-2F9C-41AB-86ED-9848AA58E9D9}" type="pres">
      <dgm:prSet presAssocID="{99EF93DA-19DC-4291-B451-1B2853EED34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DC4CF8B9-9E06-41A9-A5E4-E42D5C84D4CF}" type="pres">
      <dgm:prSet presAssocID="{99EF93DA-19DC-4291-B451-1B2853EED344}" presName="spaceRect" presStyleCnt="0"/>
      <dgm:spPr/>
    </dgm:pt>
    <dgm:pt modelId="{B1243BBE-B93F-42AC-81AA-254ED29635BD}" type="pres">
      <dgm:prSet presAssocID="{99EF93DA-19DC-4291-B451-1B2853EED34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C75AA03-1D36-4EF3-80CB-BDDACE5CABBB}" type="presOf" srcId="{9E0D3E7B-D426-41C0-B246-64F448E72251}" destId="{9C701FE1-89C2-4F8E-888D-B6A396EBB771}" srcOrd="0" destOrd="0" presId="urn:microsoft.com/office/officeart/2018/2/layout/IconLabelList"/>
    <dgm:cxn modelId="{BED5FB20-7549-4BD0-9D2E-7FDC83779AB0}" type="presOf" srcId="{99EF93DA-19DC-4291-B451-1B2853EED344}" destId="{B1243BBE-B93F-42AC-81AA-254ED29635BD}" srcOrd="0" destOrd="0" presId="urn:microsoft.com/office/officeart/2018/2/layout/IconLabelList"/>
    <dgm:cxn modelId="{251CFB42-189B-4740-B807-3CE061E80A38}" srcId="{2007230E-2B20-48A9-B139-36EF97D56AD5}" destId="{99EF93DA-19DC-4291-B451-1B2853EED344}" srcOrd="2" destOrd="0" parTransId="{CBE7FF0B-BE0C-4ED5-A24A-357D8C40ADA1}" sibTransId="{0DCB8716-DFE4-4D28-B456-38E9358C50AF}"/>
    <dgm:cxn modelId="{F2486C5A-D2BF-40AC-ACA3-B9E465CA46F0}" type="presOf" srcId="{2007230E-2B20-48A9-B139-36EF97D56AD5}" destId="{98D513D4-B69C-45EC-9454-A5DA96622654}" srcOrd="0" destOrd="0" presId="urn:microsoft.com/office/officeart/2018/2/layout/IconLabelList"/>
    <dgm:cxn modelId="{4C3CF287-3E1B-48D4-B671-3382F17EC376}" srcId="{2007230E-2B20-48A9-B139-36EF97D56AD5}" destId="{BDA6D011-A0CC-41B5-BFE0-E936E7912A65}" srcOrd="0" destOrd="0" parTransId="{830FC7F6-9AEC-4870-99F7-0296A3E04EE6}" sibTransId="{BF615189-15F4-47B9-AC00-9D81F1055D66}"/>
    <dgm:cxn modelId="{C1CD2FC5-5F70-4052-AC99-5D05592D7E9B}" srcId="{2007230E-2B20-48A9-B139-36EF97D56AD5}" destId="{9E0D3E7B-D426-41C0-B246-64F448E72251}" srcOrd="1" destOrd="0" parTransId="{1D8BC39A-1778-43D5-ADC2-C194531B03F8}" sibTransId="{0EE1B545-A51D-42C2-AE3F-20DF5DDE1BA6}"/>
    <dgm:cxn modelId="{97F4A3EB-B891-4662-9B0D-EB3E6C0EAD64}" type="presOf" srcId="{BDA6D011-A0CC-41B5-BFE0-E936E7912A65}" destId="{2ED12FCB-C8ED-4693-A14B-BF7A438FD5EB}" srcOrd="0" destOrd="0" presId="urn:microsoft.com/office/officeart/2018/2/layout/IconLabelList"/>
    <dgm:cxn modelId="{267AA521-6564-475C-992E-EEFE1226229A}" type="presParOf" srcId="{98D513D4-B69C-45EC-9454-A5DA96622654}" destId="{EEF88C95-6440-4DF4-8AE4-12C3F58C3437}" srcOrd="0" destOrd="0" presId="urn:microsoft.com/office/officeart/2018/2/layout/IconLabelList"/>
    <dgm:cxn modelId="{CB20D54C-3939-4BE0-8EC6-03A09983E08D}" type="presParOf" srcId="{EEF88C95-6440-4DF4-8AE4-12C3F58C3437}" destId="{351AFBA8-9313-4107-92E1-B992C2ED798D}" srcOrd="0" destOrd="0" presId="urn:microsoft.com/office/officeart/2018/2/layout/IconLabelList"/>
    <dgm:cxn modelId="{EC820841-1660-43D3-801E-6186F198600C}" type="presParOf" srcId="{EEF88C95-6440-4DF4-8AE4-12C3F58C3437}" destId="{8EC30A07-85A2-44AB-82CD-CA31ACA85E73}" srcOrd="1" destOrd="0" presId="urn:microsoft.com/office/officeart/2018/2/layout/IconLabelList"/>
    <dgm:cxn modelId="{DF3486AB-97A6-48A4-AD31-6865C7E0C086}" type="presParOf" srcId="{EEF88C95-6440-4DF4-8AE4-12C3F58C3437}" destId="{2ED12FCB-C8ED-4693-A14B-BF7A438FD5EB}" srcOrd="2" destOrd="0" presId="urn:microsoft.com/office/officeart/2018/2/layout/IconLabelList"/>
    <dgm:cxn modelId="{B3F06400-AC61-457A-8D10-D10B64572013}" type="presParOf" srcId="{98D513D4-B69C-45EC-9454-A5DA96622654}" destId="{8CF951E0-AE22-4A9D-B9C6-06846884D3A1}" srcOrd="1" destOrd="0" presId="urn:microsoft.com/office/officeart/2018/2/layout/IconLabelList"/>
    <dgm:cxn modelId="{44457205-5442-4567-87DE-C0DDDDEB809D}" type="presParOf" srcId="{98D513D4-B69C-45EC-9454-A5DA96622654}" destId="{C54E9662-5E2A-4B64-9C6A-B28593C6BD9B}" srcOrd="2" destOrd="0" presId="urn:microsoft.com/office/officeart/2018/2/layout/IconLabelList"/>
    <dgm:cxn modelId="{278515A6-9AA5-4366-9918-23CCE622DAF3}" type="presParOf" srcId="{C54E9662-5E2A-4B64-9C6A-B28593C6BD9B}" destId="{432AAD56-CB8C-48FB-97BB-7EFB53A06666}" srcOrd="0" destOrd="0" presId="urn:microsoft.com/office/officeart/2018/2/layout/IconLabelList"/>
    <dgm:cxn modelId="{09EF5A0B-C5A7-4196-971F-4F4A2D895B76}" type="presParOf" srcId="{C54E9662-5E2A-4B64-9C6A-B28593C6BD9B}" destId="{CE43789C-A80D-47D0-A60D-0780BE4EEE1F}" srcOrd="1" destOrd="0" presId="urn:microsoft.com/office/officeart/2018/2/layout/IconLabelList"/>
    <dgm:cxn modelId="{F72347B5-616D-42A0-812F-4A480B8B9026}" type="presParOf" srcId="{C54E9662-5E2A-4B64-9C6A-B28593C6BD9B}" destId="{9C701FE1-89C2-4F8E-888D-B6A396EBB771}" srcOrd="2" destOrd="0" presId="urn:microsoft.com/office/officeart/2018/2/layout/IconLabelList"/>
    <dgm:cxn modelId="{50EFD469-58BC-4943-B7E4-7658632FD818}" type="presParOf" srcId="{98D513D4-B69C-45EC-9454-A5DA96622654}" destId="{D8551369-F0F5-432E-9001-C480DC70842D}" srcOrd="3" destOrd="0" presId="urn:microsoft.com/office/officeart/2018/2/layout/IconLabelList"/>
    <dgm:cxn modelId="{A4223395-C607-4B88-A343-20F78C2DE894}" type="presParOf" srcId="{98D513D4-B69C-45EC-9454-A5DA96622654}" destId="{D527A12D-F8AD-4ECF-BAFA-BC8E7B6FA649}" srcOrd="4" destOrd="0" presId="urn:microsoft.com/office/officeart/2018/2/layout/IconLabelList"/>
    <dgm:cxn modelId="{5A1CB75B-7C7C-439B-A647-F10BA7E73A08}" type="presParOf" srcId="{D527A12D-F8AD-4ECF-BAFA-BC8E7B6FA649}" destId="{C379DCCD-2F9C-41AB-86ED-9848AA58E9D9}" srcOrd="0" destOrd="0" presId="urn:microsoft.com/office/officeart/2018/2/layout/IconLabelList"/>
    <dgm:cxn modelId="{51658525-E597-4713-904F-C071A9813747}" type="presParOf" srcId="{D527A12D-F8AD-4ECF-BAFA-BC8E7B6FA649}" destId="{DC4CF8B9-9E06-41A9-A5E4-E42D5C84D4CF}" srcOrd="1" destOrd="0" presId="urn:microsoft.com/office/officeart/2018/2/layout/IconLabelList"/>
    <dgm:cxn modelId="{68E37BEC-C9D9-46CA-8324-1CDCAFA776BD}" type="presParOf" srcId="{D527A12D-F8AD-4ECF-BAFA-BC8E7B6FA649}" destId="{B1243BBE-B93F-42AC-81AA-254ED29635B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1AFBA8-9313-4107-92E1-B992C2ED798D}">
      <dsp:nvSpPr>
        <dsp:cNvPr id="0" name=""/>
        <dsp:cNvSpPr/>
      </dsp:nvSpPr>
      <dsp:spPr>
        <a:xfrm>
          <a:off x="569550" y="1314012"/>
          <a:ext cx="877486" cy="8774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D12FCB-C8ED-4693-A14B-BF7A438FD5EB}">
      <dsp:nvSpPr>
        <dsp:cNvPr id="0" name=""/>
        <dsp:cNvSpPr/>
      </dsp:nvSpPr>
      <dsp:spPr>
        <a:xfrm>
          <a:off x="33308" y="2473574"/>
          <a:ext cx="194996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Due to our client being IBM, we had a lot of </a:t>
          </a:r>
          <a:r>
            <a:rPr lang="en-GB" sz="1100" kern="1200">
              <a:latin typeface="Calibri Light" panose="020F0302020204030204"/>
            </a:rPr>
            <a:t>freedom regarding</a:t>
          </a:r>
          <a:r>
            <a:rPr lang="en-GB" sz="1100" kern="1200"/>
            <a:t> the choices we can make for this project.</a:t>
          </a:r>
          <a:r>
            <a:rPr lang="en-GB" sz="1100" kern="1200">
              <a:latin typeface="Calibri Light" panose="020F0302020204030204"/>
            </a:rPr>
            <a:t> </a:t>
          </a:r>
          <a:endParaRPr lang="en-US" sz="1100" kern="1200"/>
        </a:p>
      </dsp:txBody>
      <dsp:txXfrm>
        <a:off x="33308" y="2473574"/>
        <a:ext cx="1949969" cy="720000"/>
      </dsp:txXfrm>
    </dsp:sp>
    <dsp:sp modelId="{432AAD56-CB8C-48FB-97BB-7EFB53A06666}">
      <dsp:nvSpPr>
        <dsp:cNvPr id="0" name=""/>
        <dsp:cNvSpPr/>
      </dsp:nvSpPr>
      <dsp:spPr>
        <a:xfrm>
          <a:off x="2860763" y="1314012"/>
          <a:ext cx="877486" cy="8774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701FE1-89C2-4F8E-888D-B6A396EBB771}">
      <dsp:nvSpPr>
        <dsp:cNvPr id="0" name=""/>
        <dsp:cNvSpPr/>
      </dsp:nvSpPr>
      <dsp:spPr>
        <a:xfrm>
          <a:off x="2324522" y="2473574"/>
          <a:ext cx="194996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In order to help us make more informed decisions, </a:t>
          </a:r>
          <a:r>
            <a:rPr lang="en-GB" sz="1100" kern="1200">
              <a:latin typeface="Calibri Light" panose="020F0302020204030204"/>
            </a:rPr>
            <a:t>we developed</a:t>
          </a:r>
          <a:r>
            <a:rPr lang="en-GB" sz="1100" kern="1200"/>
            <a:t> a survey to help us make better </a:t>
          </a:r>
          <a:r>
            <a:rPr lang="en-GB" sz="1100" kern="1200">
              <a:latin typeface="Calibri Light" panose="020F0302020204030204"/>
            </a:rPr>
            <a:t>informed decisions</a:t>
          </a:r>
          <a:r>
            <a:rPr lang="en-GB" sz="1100" kern="1200"/>
            <a:t>.</a:t>
          </a:r>
          <a:endParaRPr lang="en-US" sz="1100" kern="1200"/>
        </a:p>
      </dsp:txBody>
      <dsp:txXfrm>
        <a:off x="2324522" y="2473574"/>
        <a:ext cx="1949969" cy="720000"/>
      </dsp:txXfrm>
    </dsp:sp>
    <dsp:sp modelId="{C379DCCD-2F9C-41AB-86ED-9848AA58E9D9}">
      <dsp:nvSpPr>
        <dsp:cNvPr id="0" name=""/>
        <dsp:cNvSpPr/>
      </dsp:nvSpPr>
      <dsp:spPr>
        <a:xfrm>
          <a:off x="5151977" y="1314012"/>
          <a:ext cx="877486" cy="8774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243BBE-B93F-42AC-81AA-254ED29635BD}">
      <dsp:nvSpPr>
        <dsp:cNvPr id="0" name=""/>
        <dsp:cNvSpPr/>
      </dsp:nvSpPr>
      <dsp:spPr>
        <a:xfrm>
          <a:off x="4615736" y="2473574"/>
          <a:ext cx="194996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An in-depth analysis of the results curated from </a:t>
          </a:r>
          <a:r>
            <a:rPr lang="en-GB" sz="1100" kern="1200">
              <a:latin typeface="Calibri Light" panose="020F0302020204030204"/>
            </a:rPr>
            <a:t>this survey</a:t>
          </a:r>
          <a:r>
            <a:rPr lang="en-GB" sz="1100" kern="1200"/>
            <a:t> can be found here</a:t>
          </a:r>
          <a:r>
            <a:rPr lang="en-GB" sz="1100" kern="1200">
              <a:latin typeface="Calibri Light" panose="020F0302020204030204"/>
            </a:rPr>
            <a:t>.</a:t>
          </a:r>
          <a:endParaRPr lang="en-US" sz="1100" kern="1200"/>
        </a:p>
      </dsp:txBody>
      <dsp:txXfrm>
        <a:off x="4615736" y="2473574"/>
        <a:ext cx="194996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4C9D5-176F-4FB5-A7C1-5764DCD563B5}" type="datetimeFigureOut">
              <a:t>3/6/2026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DF97CA-8C8F-4C5C-AAE2-4748235E946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685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Talk about hands off client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F97CA-8C8F-4C5C-AAE2-4748235E9460}" type="slidenum"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9733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Hands off client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F97CA-8C8F-4C5C-AAE2-4748235E9460}" type="slidenum"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065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goal of the system is to </a:t>
            </a:r>
            <a:r>
              <a:rPr lang="en-US" b="1"/>
              <a:t>process vehicle telemetry data from the Kit OBD database, </a:t>
            </a:r>
            <a:r>
              <a:rPr lang="en-US" b="1" err="1"/>
              <a:t>analyse</a:t>
            </a:r>
            <a:r>
              <a:rPr lang="en-US" b="1"/>
              <a:t> it using OpenAI LLM, and stream the results live to a mobile app dashboard made with flutter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>
                <a:ea typeface="Calibri"/>
                <a:cs typeface="Calibri"/>
              </a:rPr>
              <a:t>Our frontend </a:t>
            </a:r>
            <a:r>
              <a:rPr lang="en-US"/>
              <a:t>is built with Flutter and connects to the backend using a </a:t>
            </a:r>
            <a:r>
              <a:rPr lang="en-US" b="1"/>
              <a:t>WebSocket client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/>
              <a:t>The backend pushes </a:t>
            </a:r>
            <a:r>
              <a:rPr lang="en-US" b="1"/>
              <a:t>live telemetry data and AI commentary</a:t>
            </a:r>
            <a:r>
              <a:rPr lang="en-US"/>
              <a:t>.</a:t>
            </a:r>
            <a:endParaRPr lang="en-US" b="1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The Flutter app displays the data using </a:t>
            </a:r>
            <a:r>
              <a:rPr lang="en-US" b="1"/>
              <a:t>interactive charts and visualizations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 b="1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endParaRPr lang="en-US" b="1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F97CA-8C8F-4C5C-AAE2-4748235E9460}" type="slidenum">
              <a:rPr lang="en-GB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784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Decided we wanted to integrate real telemetry. Callum – </a:t>
            </a:r>
            <a:r>
              <a:rPr lang="en-US" err="1">
                <a:ea typeface="Calibri"/>
                <a:cs typeface="Calibri"/>
              </a:rPr>
              <a:t>asetto</a:t>
            </a:r>
            <a:r>
              <a:rPr lang="en-US">
                <a:ea typeface="Calibri"/>
                <a:cs typeface="Calibri"/>
              </a:rPr>
              <a:t> – telemetry into csv – fastf1 for historic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F97CA-8C8F-4C5C-AAE2-4748235E9460}" type="slidenum">
              <a:rPr lang="en-GB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0634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spcAft>
                <a:spcPts val="1000"/>
              </a:spcAft>
              <a:buFont typeface="Arial"/>
              <a:buChar char="•"/>
            </a:pPr>
            <a:r>
              <a:rPr lang="en-GB">
                <a:solidFill>
                  <a:schemeClr val="bg1"/>
                </a:solidFill>
              </a:rPr>
              <a:t>1) AI made example, made very quickly using AI just to </a:t>
            </a:r>
          </a:p>
          <a:p>
            <a:pPr marL="171450" indent="-171450">
              <a:spcAft>
                <a:spcPts val="1000"/>
              </a:spcAft>
              <a:buFont typeface="Arial"/>
              <a:buChar char="•"/>
            </a:pPr>
            <a:r>
              <a:rPr lang="en-GB">
                <a:solidFill>
                  <a:schemeClr val="bg1"/>
                </a:solidFill>
              </a:rPr>
              <a:t>demonstrate what the project could look like</a:t>
            </a:r>
          </a:p>
          <a:p>
            <a:pPr marL="171450" indent="-171450">
              <a:spcAft>
                <a:spcPts val="1000"/>
              </a:spcAft>
              <a:buFont typeface="Arial"/>
              <a:buChar char="•"/>
            </a:pPr>
            <a:r>
              <a:rPr lang="en-GB">
                <a:solidFill>
                  <a:schemeClr val="bg1"/>
                </a:solidFill>
              </a:rPr>
              <a:t>2) MVP user interface, largely using pixel art, less intricate with </a:t>
            </a:r>
            <a:endParaRPr lang="en-US">
              <a:solidFill>
                <a:schemeClr val="bg1"/>
              </a:solidFill>
            </a:endParaRPr>
          </a:p>
          <a:p>
            <a:pPr marL="171450" indent="-171450">
              <a:spcAft>
                <a:spcPts val="1000"/>
              </a:spcAft>
              <a:buFont typeface="Arial"/>
              <a:buChar char="•"/>
            </a:pPr>
            <a:r>
              <a:rPr lang="en-GB">
                <a:solidFill>
                  <a:schemeClr val="bg1"/>
                </a:solidFill>
              </a:rPr>
              <a:t>information given.</a:t>
            </a:r>
            <a:endParaRPr lang="en-US">
              <a:solidFill>
                <a:schemeClr val="bg1"/>
              </a:solidFill>
            </a:endParaRPr>
          </a:p>
          <a:p>
            <a:pPr marL="171450" indent="-171450">
              <a:spcAft>
                <a:spcPts val="1000"/>
              </a:spcAft>
              <a:buFont typeface="Arial"/>
              <a:buChar char="•"/>
            </a:pPr>
            <a:r>
              <a:rPr lang="en-GB">
                <a:solidFill>
                  <a:schemeClr val="bg1"/>
                </a:solidFill>
              </a:rPr>
              <a:t>3) Beta user interface, modernised largely from what user testing </a:t>
            </a:r>
            <a:endParaRPr lang="en-US">
              <a:solidFill>
                <a:schemeClr val="bg1"/>
              </a:solidFill>
            </a:endParaRPr>
          </a:p>
          <a:p>
            <a:pPr marL="171450" indent="-171450">
              <a:spcAft>
                <a:spcPts val="1000"/>
              </a:spcAft>
              <a:buFont typeface="Arial"/>
              <a:buChar char="•"/>
            </a:pPr>
            <a:r>
              <a:rPr lang="en-GB">
                <a:solidFill>
                  <a:schemeClr val="bg1"/>
                </a:solidFill>
              </a:rPr>
              <a:t>Requested I think this should be less text just images</a:t>
            </a:r>
            <a:endParaRPr lang="en-US">
              <a:solidFill>
                <a:schemeClr val="bg1"/>
              </a:solidFill>
            </a:endParaRPr>
          </a:p>
          <a:p>
            <a:pPr marL="171450" indent="-171450">
              <a:spcAft>
                <a:spcPts val="1000"/>
              </a:spcAft>
              <a:buFont typeface="Arial"/>
              <a:buChar char="•"/>
            </a:pPr>
            <a:endParaRPr lang="en-GB">
              <a:solidFill>
                <a:schemeClr val="bg1"/>
              </a:solidFill>
            </a:endParaRPr>
          </a:p>
          <a:p>
            <a:pPr marL="171450" indent="-171450">
              <a:spcAft>
                <a:spcPts val="1000"/>
              </a:spcAft>
              <a:buFont typeface="Arial"/>
              <a:buChar char="•"/>
            </a:pPr>
            <a:r>
              <a:rPr lang="en-GB">
                <a:solidFill>
                  <a:schemeClr val="bg1"/>
                </a:solidFill>
              </a:rPr>
              <a:t>Our approach has evolved from being client focused, into being</a:t>
            </a:r>
            <a:endParaRPr lang="en-US">
              <a:solidFill>
                <a:schemeClr val="bg1"/>
              </a:solidFill>
            </a:endParaRPr>
          </a:p>
          <a:p>
            <a:pPr marL="171450" indent="-171450">
              <a:spcAft>
                <a:spcPts val="1000"/>
              </a:spcAft>
              <a:buFont typeface="Arial"/>
              <a:buChar char="•"/>
            </a:pPr>
            <a:r>
              <a:rPr lang="en-GB">
                <a:solidFill>
                  <a:schemeClr val="bg1"/>
                </a:solidFill>
              </a:rPr>
              <a:t>stakeholder focused, as we do not receive much feedback from our </a:t>
            </a:r>
            <a:endParaRPr lang="en-US">
              <a:solidFill>
                <a:schemeClr val="bg1"/>
              </a:solidFill>
            </a:endParaRPr>
          </a:p>
          <a:p>
            <a:pPr marL="171450" indent="-171450">
              <a:spcAft>
                <a:spcPts val="1000"/>
              </a:spcAft>
              <a:buFont typeface="Arial"/>
              <a:buChar char="•"/>
            </a:pPr>
            <a:r>
              <a:rPr lang="en-GB">
                <a:solidFill>
                  <a:schemeClr val="bg1"/>
                </a:solidFill>
              </a:rPr>
              <a:t>client, we now ensure we meet their requirements, but to evolve our </a:t>
            </a:r>
            <a:endParaRPr lang="en-US">
              <a:solidFill>
                <a:schemeClr val="bg1"/>
              </a:solidFill>
            </a:endParaRPr>
          </a:p>
          <a:p>
            <a:pPr marL="171450" indent="-171450">
              <a:spcAft>
                <a:spcPts val="1000"/>
              </a:spcAft>
              <a:buFont typeface="Arial"/>
              <a:buChar char="•"/>
            </a:pPr>
            <a:r>
              <a:rPr lang="en-GB">
                <a:solidFill>
                  <a:schemeClr val="bg1"/>
                </a:solidFill>
              </a:rPr>
              <a:t>UI we take input from user testing, and our own extensive usage and</a:t>
            </a:r>
          </a:p>
          <a:p>
            <a:pPr marL="171450" indent="-171450">
              <a:spcAft>
                <a:spcPts val="1000"/>
              </a:spcAft>
              <a:buFont typeface="Arial"/>
              <a:buChar char="•"/>
            </a:pPr>
            <a:r>
              <a:rPr lang="en-GB">
                <a:solidFill>
                  <a:schemeClr val="bg1"/>
                </a:solidFill>
              </a:rPr>
              <a:t>implement new features from that.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F97CA-8C8F-4C5C-AAE2-4748235E9460}" type="slidenum"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4512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62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03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990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47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90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37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427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9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4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160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11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183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1940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48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294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801996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480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681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8.png"/><Relationship Id="rId9" Type="http://schemas.microsoft.com/office/2007/relationships/diagramDrawing" Target="../diagrams/drawin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f1aicommentary.co.uk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gelin.ru/2015/04/docker.html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acecar parked on the tracks">
            <a:extLst>
              <a:ext uri="{FF2B5EF4-FFF2-40B4-BE49-F238E27FC236}">
                <a16:creationId xmlns:a16="http://schemas.microsoft.com/office/drawing/2014/main" id="{A7BD30B0-7C3D-FCC1-5070-339E20BD7BA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t="12794" r="-2" b="503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/>
              <a:t>F1-AI Commentary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GB">
                <a:latin typeface="Rockwell"/>
              </a:rPr>
              <a:t>Kyrian Salas, Felix Van Dijk, Ella Pham, Callum Mackenzie, Leo Faircloth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E443-F89B-8A77-95D1-F5ACD8CDD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Project Brief and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5E89E-6FEC-DCD9-0AEC-A762FFCD8A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2" y="1968885"/>
            <a:ext cx="7292880" cy="145549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sz="2800" b="1" u="sng"/>
              <a:t>IBM</a:t>
            </a:r>
            <a:endParaRPr lang="en-US" sz="2800" b="1" u="sng"/>
          </a:p>
          <a:p>
            <a:pPr marL="0" indent="0">
              <a:buNone/>
            </a:pPr>
            <a:r>
              <a:rPr lang="en-GB"/>
              <a:t>A world leader in AI and cloud computing. Through our project, </a:t>
            </a:r>
            <a:r>
              <a:rPr lang="en-GB" b="1"/>
              <a:t>IBM </a:t>
            </a:r>
            <a:r>
              <a:rPr lang="en-GB"/>
              <a:t>is exploring new ways to translate complex </a:t>
            </a:r>
            <a:r>
              <a:rPr lang="en-GB" b="1"/>
              <a:t>F1 Telemetry</a:t>
            </a:r>
            <a:r>
              <a:rPr lang="en-GB"/>
              <a:t> into meaningful insights and real-time commentary.</a:t>
            </a:r>
            <a:endParaRPr lang="en-GB" sz="1800">
              <a:latin typeface="Rockwell"/>
            </a:endParaRPr>
          </a:p>
          <a:p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4CA1D4-DF4C-C1E9-E152-20F251AB6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4168" y="4370339"/>
            <a:ext cx="10133059" cy="1501679"/>
          </a:xfrm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sz="2800" b="1" u="sng"/>
              <a:t>Project Overview</a:t>
            </a:r>
            <a:endParaRPr lang="en-US" sz="2800" b="1" u="sng"/>
          </a:p>
          <a:p>
            <a:pPr marL="0" indent="0">
              <a:buNone/>
            </a:pPr>
            <a:r>
              <a:rPr lang="en-GB"/>
              <a:t>Creating an application that displays </a:t>
            </a:r>
            <a:r>
              <a:rPr lang="en-GB" b="1"/>
              <a:t>F1Telemetry</a:t>
            </a:r>
            <a:r>
              <a:rPr lang="en-GB"/>
              <a:t>, as well as relaying that information to an</a:t>
            </a:r>
            <a:r>
              <a:rPr lang="en-GB" b="1"/>
              <a:t> AI Commentator</a:t>
            </a:r>
            <a:r>
              <a:rPr lang="en-GB"/>
              <a:t>, mimicking a real race.</a:t>
            </a:r>
            <a:endParaRPr lang="en-GB" sz="1800">
              <a:latin typeface="Rockwell"/>
            </a:endParaRPr>
          </a:p>
          <a:p>
            <a:endParaRPr lang="en-GB"/>
          </a:p>
        </p:txBody>
      </p:sp>
      <p:pic>
        <p:nvPicPr>
          <p:cNvPr id="4" name="Picture 3" descr="A blue and white striped logo&#10;&#10;AI-generated content may be incorrect.">
            <a:extLst>
              <a:ext uri="{FF2B5EF4-FFF2-40B4-BE49-F238E27FC236}">
                <a16:creationId xmlns:a16="http://schemas.microsoft.com/office/drawing/2014/main" id="{5FE05E8F-6EC5-75F0-6F28-1E6ADFFA0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636" y="-1"/>
            <a:ext cx="4029364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317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3AF0A-DE45-6AF4-1278-EB6CE493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5219699" cy="1456267"/>
          </a:xfrm>
        </p:spPr>
        <p:txBody>
          <a:bodyPr>
            <a:normAutofit/>
          </a:bodyPr>
          <a:lstStyle/>
          <a:p>
            <a:r>
              <a:rPr lang="en-GB"/>
              <a:t>F1 Fans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DB022-0614-C405-57A2-31029003F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5219699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/>
              <a:t>As a </a:t>
            </a:r>
            <a:r>
              <a:rPr lang="en-GB" b="1"/>
              <a:t>fan</a:t>
            </a:r>
            <a:r>
              <a:rPr lang="en-GB"/>
              <a:t>, I want to hear live-style </a:t>
            </a:r>
            <a:r>
              <a:rPr lang="en-GB" b="1"/>
              <a:t>AI commentary</a:t>
            </a:r>
            <a:r>
              <a:rPr lang="en-GB"/>
              <a:t> so that I can relive racing moments and replay my favourite races.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GB"/>
          </a:p>
        </p:txBody>
      </p:sp>
      <p:pic>
        <p:nvPicPr>
          <p:cNvPr id="5" name="Picture 4" descr="A large crowd of people in red shirts and hats&#10;&#10;AI-generated content may be incorrect.">
            <a:extLst>
              <a:ext uri="{FF2B5EF4-FFF2-40B4-BE49-F238E27FC236}">
                <a16:creationId xmlns:a16="http://schemas.microsoft.com/office/drawing/2014/main" id="{75822C26-645F-6606-88DC-70F7830265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64" r="16444" b="-2"/>
          <a:stretch>
            <a:fillRect/>
          </a:stretch>
        </p:blipFill>
        <p:spPr>
          <a:xfrm>
            <a:off x="6198830" y="639097"/>
            <a:ext cx="5447070" cy="525042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68404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A7E-05E9-DE8A-8E44-0845CC6DE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5219699" cy="1456267"/>
          </a:xfrm>
        </p:spPr>
        <p:txBody>
          <a:bodyPr>
            <a:normAutofit/>
          </a:bodyPr>
          <a:lstStyle/>
          <a:p>
            <a:r>
              <a:rPr lang="en-GB"/>
              <a:t>Sim Racers</a:t>
            </a:r>
            <a:endParaRPr lang="en-GB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E0BE9-6A1A-3F52-E346-ED449F3F0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5219699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/>
              <a:t>As a </a:t>
            </a:r>
            <a:r>
              <a:rPr lang="en-GB" b="1"/>
              <a:t>sim racer</a:t>
            </a:r>
            <a:r>
              <a:rPr lang="en-GB"/>
              <a:t>, I want to </a:t>
            </a:r>
            <a:r>
              <a:rPr lang="en-GB" b="1"/>
              <a:t>analyse</a:t>
            </a:r>
            <a:r>
              <a:rPr lang="en-GB"/>
              <a:t> my racing performance after a race and see where I can improve.</a:t>
            </a:r>
            <a:endParaRPr lang="en-US">
              <a:latin typeface="Rockwell"/>
            </a:endParaRPr>
          </a:p>
          <a:p>
            <a:pPr marL="0" indent="0">
              <a:buNone/>
            </a:pPr>
            <a:endParaRPr lang="en-GB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Picture 4" descr="A person driving a race car&#10;&#10;AI-generated content may be incorrect.">
            <a:extLst>
              <a:ext uri="{FF2B5EF4-FFF2-40B4-BE49-F238E27FC236}">
                <a16:creationId xmlns:a16="http://schemas.microsoft.com/office/drawing/2014/main" id="{B4E32423-E9C7-A4C6-61E0-0798DD6FCE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666" r="16421"/>
          <a:stretch>
            <a:fillRect/>
          </a:stretch>
        </p:blipFill>
        <p:spPr>
          <a:xfrm>
            <a:off x="6198830" y="639097"/>
            <a:ext cx="5447070" cy="525042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4462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9574A-EDC8-191C-ABF5-CDB1A84CB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5219699" cy="1456267"/>
          </a:xfrm>
        </p:spPr>
        <p:txBody>
          <a:bodyPr>
            <a:normAutofit/>
          </a:bodyPr>
          <a:lstStyle/>
          <a:p>
            <a:r>
              <a:rPr lang="en-GB"/>
              <a:t>User Survey</a:t>
            </a:r>
          </a:p>
        </p:txBody>
      </p:sp>
      <p:pic>
        <p:nvPicPr>
          <p:cNvPr id="231" name="Picture 230" descr="A qr code with a dinosaur&#10;&#10;AI-generated content may be incorrect.">
            <a:extLst>
              <a:ext uri="{FF2B5EF4-FFF2-40B4-BE49-F238E27FC236}">
                <a16:creationId xmlns:a16="http://schemas.microsoft.com/office/drawing/2014/main" id="{59768536-E98E-9584-541D-F215388C8F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19" r="2" b="1694"/>
          <a:stretch>
            <a:fillRect/>
          </a:stretch>
        </p:blipFill>
        <p:spPr>
          <a:xfrm>
            <a:off x="6995466" y="1574278"/>
            <a:ext cx="4084707" cy="3934244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69624B-806C-333C-69B2-EA20E08A3D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7186591"/>
              </p:ext>
            </p:extLst>
          </p:nvPr>
        </p:nvGraphicFramePr>
        <p:xfrm>
          <a:off x="174586" y="1572979"/>
          <a:ext cx="6599014" cy="4507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650610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3A813-DF65-ED04-79D8-724BA484D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Survey 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17363-6687-D8E5-9CEF-F6B47DC37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sz="1700">
                <a:latin typeface="Rockwell"/>
              </a:rPr>
              <a:t>We gained lots of key insights from our survey. The most important of which were the three user profiles we identified:</a:t>
            </a:r>
            <a:endParaRPr lang="en-GB">
              <a:latin typeface="Aptos" panose="020B0004020202020204"/>
            </a:endParaRPr>
          </a:p>
          <a:p>
            <a:endParaRPr lang="en-GB" sz="1700">
              <a:latin typeface="Rockwell"/>
            </a:endParaRPr>
          </a:p>
          <a:p>
            <a:endParaRPr lang="en-GB" sz="1700">
              <a:latin typeface="Rockwell"/>
            </a:endParaRPr>
          </a:p>
          <a:p>
            <a:endParaRPr lang="en-GB" sz="1700">
              <a:latin typeface="Rockwell"/>
            </a:endParaRPr>
          </a:p>
          <a:p>
            <a:endParaRPr lang="en-GB" sz="1700">
              <a:latin typeface="Rockwell"/>
            </a:endParaRPr>
          </a:p>
          <a:p>
            <a:endParaRPr lang="en-GB" sz="1700">
              <a:latin typeface="Rockwell"/>
            </a:endParaRPr>
          </a:p>
          <a:p>
            <a:endParaRPr lang="en-GB" sz="1700">
              <a:latin typeface="Rockwell"/>
            </a:endParaRPr>
          </a:p>
          <a:p>
            <a:r>
              <a:rPr lang="en-GB" sz="1700">
                <a:latin typeface="Rockwell"/>
              </a:rPr>
              <a:t>In future iterations of this project, we aim to implement different 'modes', each of which bespoke and tailored to a specific user profile</a:t>
            </a:r>
          </a:p>
          <a:p>
            <a:endParaRPr lang="en-GB" sz="1700">
              <a:latin typeface="Rockwell"/>
            </a:endParaRPr>
          </a:p>
        </p:txBody>
      </p:sp>
      <p:pic>
        <p:nvPicPr>
          <p:cNvPr id="4" name="Picture 3" descr="A red rectangular sign with white text&#10;&#10;AI-generated content may be incorrect.">
            <a:extLst>
              <a:ext uri="{FF2B5EF4-FFF2-40B4-BE49-F238E27FC236}">
                <a16:creationId xmlns:a16="http://schemas.microsoft.com/office/drawing/2014/main" id="{9E75FE25-AC09-4E5D-6311-D7FE1D801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765" y="2864716"/>
            <a:ext cx="8289925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095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EFD38-DCBE-420E-9763-DEB51C980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5219699" cy="1456267"/>
          </a:xfrm>
        </p:spPr>
        <p:txBody>
          <a:bodyPr>
            <a:normAutofit/>
          </a:bodyPr>
          <a:lstStyle/>
          <a:p>
            <a:r>
              <a:rPr lang="en-GB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44040-B958-ED39-9F53-67A06E348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5219699" cy="3649133"/>
          </a:xfrm>
        </p:spPr>
        <p:txBody>
          <a:bodyPr vert="horz" lIns="91440" tIns="45720" rIns="91440" bIns="45720" rtlCol="0">
            <a:normAutofit/>
          </a:bodyPr>
          <a:lstStyle/>
          <a:p>
            <a:endParaRPr lang="en-GB">
              <a:ea typeface="Calibri"/>
              <a:cs typeface="Calibri"/>
            </a:endParaRPr>
          </a:p>
          <a:p>
            <a:r>
              <a:rPr lang="en-GB">
                <a:hlinkClick r:id="rId3"/>
              </a:rPr>
              <a:t>https://dev.f1aicommentary.co.uk</a:t>
            </a:r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pic>
        <p:nvPicPr>
          <p:cNvPr id="4" name="Picture 3" descr="A qr code with a dinosaur&#10;&#10;AI-generated content may be incorrect.">
            <a:extLst>
              <a:ext uri="{FF2B5EF4-FFF2-40B4-BE49-F238E27FC236}">
                <a16:creationId xmlns:a16="http://schemas.microsoft.com/office/drawing/2014/main" id="{5BA74D03-0E44-18D1-0EBD-7BD8E0EFD0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" b="3612"/>
          <a:stretch>
            <a:fillRect/>
          </a:stretch>
        </p:blipFill>
        <p:spPr>
          <a:xfrm>
            <a:off x="6198830" y="639097"/>
            <a:ext cx="5447070" cy="525042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75235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9B930-71C7-811C-E6D3-CE1DB40A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300"/>
              <a:t>Architecture Diagram and Description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526B675-5763-E698-DEE9-0C28D580D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78" y="2261420"/>
            <a:ext cx="4002936" cy="3637935"/>
          </a:xfrm>
        </p:spPr>
        <p:txBody>
          <a:bodyPr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en-US"/>
              <a:t>First iteration of our tech stack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Started with using KIT OBD Dataset</a:t>
            </a:r>
          </a:p>
          <a:p>
            <a:pPr marL="457200" lvl="1" indent="0">
              <a:buNone/>
            </a:pPr>
            <a:endParaRPr lang="en-US"/>
          </a:p>
        </p:txBody>
      </p:sp>
      <p:pic>
        <p:nvPicPr>
          <p:cNvPr id="6" name="Content Placeholder 5" descr="Tech Stack">
            <a:extLst>
              <a:ext uri="{FF2B5EF4-FFF2-40B4-BE49-F238E27FC236}">
                <a16:creationId xmlns:a16="http://schemas.microsoft.com/office/drawing/2014/main" id="{680A7C57-2FA7-D039-A5F5-D45E199AE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489" y="1326699"/>
            <a:ext cx="7258645" cy="4202792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3345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7D4A0-7939-4346-C78E-B6543DD0A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113145"/>
            <a:ext cx="10131425" cy="1456267"/>
          </a:xfrm>
        </p:spPr>
        <p:txBody>
          <a:bodyPr/>
          <a:lstStyle/>
          <a:p>
            <a:r>
              <a:rPr lang="en-GB"/>
              <a:t>Updated 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EAF7E-9548-FA3A-BFCE-321F0A9B3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109" y="1941080"/>
            <a:ext cx="283915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lvl="1" indent="0">
              <a:buNone/>
            </a:pPr>
            <a:r>
              <a:rPr lang="en-US" sz="1800"/>
              <a:t>Now integrated with telemetry pulled from </a:t>
            </a:r>
            <a:r>
              <a:rPr lang="en-US" sz="1800" err="1"/>
              <a:t>Assetto</a:t>
            </a:r>
            <a:r>
              <a:rPr lang="en-US" sz="1800"/>
              <a:t> Corsa and Fast F1 historic data.</a:t>
            </a:r>
            <a:endParaRPr lang="en-US"/>
          </a:p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5E3D89-00FC-EE89-5ED4-6E4608B44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976" y="1418167"/>
            <a:ext cx="8204777" cy="48721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FBFF49-54FC-3127-A5D4-15D1E731EDFF}"/>
              </a:ext>
            </a:extLst>
          </p:cNvPr>
          <p:cNvSpPr txBox="1"/>
          <p:nvPr/>
        </p:nvSpPr>
        <p:spPr>
          <a:xfrm>
            <a:off x="7875282" y="3182842"/>
            <a:ext cx="1354666" cy="246221"/>
          </a:xfrm>
          <a:prstGeom prst="rect">
            <a:avLst/>
          </a:prstGeom>
          <a:solidFill>
            <a:srgbClr val="0D62A3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000">
                <a:solidFill>
                  <a:schemeClr val="bg1"/>
                </a:solidFill>
              </a:rPr>
              <a:t>FastF1/CSV Telemetry </a:t>
            </a:r>
          </a:p>
        </p:txBody>
      </p:sp>
    </p:spTree>
    <p:extLst>
      <p:ext uri="{BB962C8B-B14F-4D97-AF65-F5344CB8AC3E}">
        <p14:creationId xmlns:p14="http://schemas.microsoft.com/office/powerpoint/2010/main" val="142322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63617-3F2E-B09E-408F-B71C49955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CI/CD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95765-3203-2A41-2EEC-7590ACC18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Implemented continuous deployment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>
                <a:latin typeface="Calibri"/>
                <a:ea typeface="Calibri"/>
                <a:cs typeface="Calibri"/>
              </a:rPr>
              <a:t>Backend: Docker image built and uploaded to GitHub Container Registry, then deployed to EC2 via SSH</a:t>
            </a:r>
            <a:endParaRPr lang="en-GB">
              <a:latin typeface="Aptos"/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/>
              <a:t>Frontend: Flutter web app built with dynamic API URL's and deployed to EC2 via SSH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GB" sz="2000"/>
              <a:t>Automated workflows trigger on push to main/dev branches or manual dispatch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GB"/>
          </a:p>
          <a:p>
            <a:r>
              <a:rPr lang="en-GB"/>
              <a:t>Uses GitHub Actions for CI/CD pipeline</a:t>
            </a:r>
          </a:p>
          <a:p>
            <a:r>
              <a:rPr lang="en-GB"/>
              <a:t>Ensures updated Docker containers and web assets on an EC2 instance.</a:t>
            </a:r>
          </a:p>
          <a:p>
            <a:r>
              <a:rPr lang="en-GB"/>
              <a:t>Used </a:t>
            </a:r>
            <a:r>
              <a:rPr lang="en-GB" err="1"/>
              <a:t>CertBot</a:t>
            </a:r>
            <a:r>
              <a:rPr lang="en-GB"/>
              <a:t> for SSL certification.</a:t>
            </a:r>
            <a:endParaRPr lang="en-GB">
              <a:ea typeface="Calibri"/>
              <a:cs typeface="Calibri"/>
            </a:endParaRPr>
          </a:p>
        </p:txBody>
      </p:sp>
      <p:pic>
        <p:nvPicPr>
          <p:cNvPr id="9" name="Picture 8" descr="A blue whale with white text&#10;&#10;AI-generated content may be incorrect.">
            <a:extLst>
              <a:ext uri="{FF2B5EF4-FFF2-40B4-BE49-F238E27FC236}">
                <a16:creationId xmlns:a16="http://schemas.microsoft.com/office/drawing/2014/main" id="{5B500B0E-E90E-93A0-1367-83B516EAF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481454" y="2809"/>
            <a:ext cx="4294910" cy="1449112"/>
          </a:xfrm>
          <a:prstGeom prst="rect">
            <a:avLst/>
          </a:prstGeom>
        </p:spPr>
      </p:pic>
      <p:pic>
        <p:nvPicPr>
          <p:cNvPr id="12" name="Picture 11" descr="A logo with a smile&#10;&#10;AI-generated content may be incorrect.">
            <a:extLst>
              <a:ext uri="{FF2B5EF4-FFF2-40B4-BE49-F238E27FC236}">
                <a16:creationId xmlns:a16="http://schemas.microsoft.com/office/drawing/2014/main" id="{872B0F79-E64A-B3A6-E8B1-64AEDBAE8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2609" y="1456027"/>
            <a:ext cx="429260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613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8A3A6-0197-5279-0906-23956954E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Frontend Test Coverage – 75.3%</a:t>
            </a:r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9D16CCF-467F-C0DF-E1F9-32C70ABBB2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5487" y="1717663"/>
            <a:ext cx="3047424" cy="486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56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62CB7-B3B8-033E-AC83-8968043D9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Backend Test Coverage – 64 %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B55D77-8CEF-74EF-9D89-4E0861BF2D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2619" y="2069784"/>
            <a:ext cx="11332152" cy="370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439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A467-03B5-488C-719F-2C442AA19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SEP testing day</a:t>
            </a:r>
            <a:endParaRPr lang="en-GB"/>
          </a:p>
        </p:txBody>
      </p:sp>
      <p:pic>
        <p:nvPicPr>
          <p:cNvPr id="4" name="Content Placeholder 3" descr="A group of people in a room&#10;&#10;AI-generated content may be incorrect.">
            <a:extLst>
              <a:ext uri="{FF2B5EF4-FFF2-40B4-BE49-F238E27FC236}">
                <a16:creationId xmlns:a16="http://schemas.microsoft.com/office/drawing/2014/main" id="{9B2BFBC7-2A75-2A9D-BDC3-C4A09855B7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417" y="1870847"/>
            <a:ext cx="5467043" cy="311960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 descr="A poster of a robot and a race car&#10;&#10;AI-generated content may be incorrect.">
            <a:extLst>
              <a:ext uri="{FF2B5EF4-FFF2-40B4-BE49-F238E27FC236}">
                <a16:creationId xmlns:a16="http://schemas.microsoft.com/office/drawing/2014/main" id="{FC1B7B6B-2DF9-B9BF-F42C-48DCC7FA4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79" y="439118"/>
            <a:ext cx="2712204" cy="40683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A7C1961-34B0-FA04-89E2-108A297252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81" t="9836" r="4587" b="9010"/>
          <a:stretch>
            <a:fillRect/>
          </a:stretch>
        </p:blipFill>
        <p:spPr>
          <a:xfrm>
            <a:off x="5750840" y="5040662"/>
            <a:ext cx="4189844" cy="143815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932732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D5418-4098-1EFA-E214-85D418FD1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User Testing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6B452D2-7217-C442-B660-07A1ACE2A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173209"/>
              </p:ext>
            </p:extLst>
          </p:nvPr>
        </p:nvGraphicFramePr>
        <p:xfrm>
          <a:off x="296494" y="2074563"/>
          <a:ext cx="8389690" cy="300279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31861">
                  <a:extLst>
                    <a:ext uri="{9D8B030D-6E8A-4147-A177-3AD203B41FA5}">
                      <a16:colId xmlns:a16="http://schemas.microsoft.com/office/drawing/2014/main" val="1397432436"/>
                    </a:ext>
                  </a:extLst>
                </a:gridCol>
                <a:gridCol w="3305598">
                  <a:extLst>
                    <a:ext uri="{9D8B030D-6E8A-4147-A177-3AD203B41FA5}">
                      <a16:colId xmlns:a16="http://schemas.microsoft.com/office/drawing/2014/main" val="1352982371"/>
                    </a:ext>
                  </a:extLst>
                </a:gridCol>
                <a:gridCol w="3552231">
                  <a:extLst>
                    <a:ext uri="{9D8B030D-6E8A-4147-A177-3AD203B41FA5}">
                      <a16:colId xmlns:a16="http://schemas.microsoft.com/office/drawing/2014/main" val="1552407268"/>
                    </a:ext>
                  </a:extLst>
                </a:gridCol>
              </a:tblGrid>
              <a:tr h="369059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bg1"/>
                          </a:solidFill>
                        </a:rPr>
                        <a:t>Testing Day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bg1"/>
                          </a:solidFill>
                        </a:rPr>
                        <a:t>Testing Day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219179"/>
                  </a:ext>
                </a:extLst>
              </a:tr>
              <a:tr h="145945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>
                          <a:solidFill>
                            <a:schemeClr val="bg1"/>
                          </a:solidFill>
                        </a:rPr>
                        <a:t>Likes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/>
                        <a:buChar char="•"/>
                      </a:pPr>
                      <a:r>
                        <a:rPr lang="en-GB" sz="1800" u="none" strike="noStrike" noProof="0">
                          <a:solidFill>
                            <a:schemeClr val="bg1"/>
                          </a:solidFill>
                        </a:rPr>
                        <a:t>Processing own data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/>
                        <a:buChar char="•"/>
                      </a:pPr>
                      <a:r>
                        <a:rPr lang="en-GB" sz="1800" u="none" strike="noStrike" noProof="0">
                          <a:solidFill>
                            <a:schemeClr val="bg1"/>
                          </a:solidFill>
                        </a:rPr>
                        <a:t>Liked data available</a:t>
                      </a:r>
                      <a:endParaRPr lang="en-US" sz="1800" u="none" strike="noStrike" noProof="0">
                        <a:solidFill>
                          <a:schemeClr val="bg1"/>
                        </a:solidFill>
                      </a:endParaRP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/>
                        <a:buChar char="•"/>
                      </a:pPr>
                      <a:r>
                        <a:rPr lang="en-GB" sz="1800" u="none" strike="noStrike" noProof="0">
                          <a:solidFill>
                            <a:schemeClr val="bg1"/>
                          </a:solidFill>
                        </a:rPr>
                        <a:t>91% thought easy to use</a:t>
                      </a:r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/>
                        <a:buChar char="•"/>
                      </a:pPr>
                      <a:r>
                        <a:rPr lang="en-GB" sz="1800" u="none" strike="noStrike" noProof="0">
                          <a:solidFill>
                            <a:schemeClr val="bg1"/>
                          </a:solidFill>
                        </a:rPr>
                        <a:t>UI</a:t>
                      </a:r>
                      <a:endParaRPr lang="en-US" sz="1800" u="none" strike="noStrike" noProof="0">
                        <a:solidFill>
                          <a:schemeClr val="bg1"/>
                        </a:solidFill>
                      </a:endParaRP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/>
                        <a:buChar char="•"/>
                      </a:pPr>
                      <a:r>
                        <a:rPr lang="en-GB" sz="1800" u="none" strike="noStrike" noProof="0">
                          <a:solidFill>
                            <a:schemeClr val="bg1"/>
                          </a:solidFill>
                        </a:rPr>
                        <a:t>Visualises data well</a:t>
                      </a:r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5858201"/>
                  </a:ext>
                </a:extLst>
              </a:tr>
              <a:tr h="1174277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bg1"/>
                          </a:solidFill>
                        </a:rPr>
                        <a:t>Improvements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/>
                        <a:buChar char="•"/>
                      </a:pPr>
                      <a:r>
                        <a:rPr lang="en-GB" sz="1800" u="none" strike="noStrike" noProof="0">
                          <a:solidFill>
                            <a:schemeClr val="bg1"/>
                          </a:solidFill>
                        </a:rPr>
                        <a:t>UI</a:t>
                      </a: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/>
                        <a:buChar char="•"/>
                      </a:pPr>
                      <a:r>
                        <a:rPr lang="en-GB" sz="1800" u="none" strike="noStrike" noProof="0">
                          <a:solidFill>
                            <a:schemeClr val="bg1"/>
                          </a:solidFill>
                        </a:rPr>
                        <a:t>More widgets</a:t>
                      </a:r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/>
                        <a:buChar char="•"/>
                      </a:pPr>
                      <a:r>
                        <a:rPr lang="en-GB" sz="1800" u="none" strike="noStrike" noProof="0">
                          <a:solidFill>
                            <a:schemeClr val="bg1"/>
                          </a:solidFill>
                        </a:rPr>
                        <a:t>Wider variety of stats</a:t>
                      </a:r>
                      <a:endParaRPr lang="en-US" sz="1800" u="none" strike="noStrike" noProof="0">
                        <a:solidFill>
                          <a:schemeClr val="bg1"/>
                        </a:solidFill>
                      </a:endParaRP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/>
                        <a:buChar char="•"/>
                      </a:pPr>
                      <a:r>
                        <a:rPr lang="en-GB" sz="1800" u="none" strike="noStrike" noProof="0">
                          <a:solidFill>
                            <a:schemeClr val="bg1"/>
                          </a:solidFill>
                        </a:rPr>
                        <a:t>More enthusiastic voice</a:t>
                      </a:r>
                      <a:endParaRPr lang="en-US" sz="1800" u="none" strike="noStrike" noProof="0">
                        <a:solidFill>
                          <a:schemeClr val="bg1"/>
                        </a:solidFill>
                      </a:endParaRPr>
                    </a:p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Font typeface="Arial"/>
                        <a:buChar char="•"/>
                      </a:pPr>
                      <a:r>
                        <a:rPr lang="en-GB" sz="1800" u="none" strike="noStrike" noProof="0">
                          <a:solidFill>
                            <a:schemeClr val="bg1"/>
                          </a:solidFill>
                        </a:rPr>
                        <a:t>More cars</a:t>
                      </a:r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862129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0CF4CBE4-C936-9B19-F3D5-3B5358C380BB}"/>
              </a:ext>
            </a:extLst>
          </p:cNvPr>
          <p:cNvSpPr/>
          <p:nvPr/>
        </p:nvSpPr>
        <p:spPr>
          <a:xfrm>
            <a:off x="8835760" y="1929876"/>
            <a:ext cx="3156106" cy="329164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>
                <a:ea typeface="Calibri"/>
                <a:cs typeface="Calibri"/>
              </a:rPr>
              <a:t>Average SUS Score:</a:t>
            </a:r>
          </a:p>
          <a:p>
            <a:pPr algn="ctr"/>
            <a:r>
              <a:rPr lang="en-GB" sz="2000" b="1">
                <a:ea typeface="Calibri"/>
                <a:cs typeface="Calibri"/>
              </a:rPr>
              <a:t>60.15/100</a:t>
            </a:r>
          </a:p>
          <a:p>
            <a:pPr algn="ctr"/>
            <a:r>
              <a:rPr lang="en-GB" sz="2000" b="1">
                <a:ea typeface="Calibri"/>
                <a:cs typeface="Calibri"/>
              </a:rPr>
              <a:t>Grade C</a:t>
            </a:r>
          </a:p>
        </p:txBody>
      </p:sp>
    </p:spTree>
    <p:extLst>
      <p:ext uri="{BB962C8B-B14F-4D97-AF65-F5344CB8AC3E}">
        <p14:creationId xmlns:p14="http://schemas.microsoft.com/office/powerpoint/2010/main" val="2199913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822D7-187A-0231-9DD8-907EF22F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609600"/>
            <a:ext cx="5147730" cy="1641987"/>
          </a:xfrm>
        </p:spPr>
        <p:txBody>
          <a:bodyPr>
            <a:normAutofit/>
          </a:bodyPr>
          <a:lstStyle/>
          <a:p>
            <a:r>
              <a:rPr lang="en-GB"/>
              <a:t>TESTING DAY 1 CHANGES</a:t>
            </a:r>
            <a:endParaRPr lang="en-GB">
              <a:ea typeface="Calibri Light"/>
              <a:cs typeface="Calibri Light"/>
            </a:endParaRPr>
          </a:p>
        </p:txBody>
      </p:sp>
      <p:pic>
        <p:nvPicPr>
          <p:cNvPr id="5" name="Picture 4" descr="A paper with writing on it&#10;&#10;AI-generated content may be incorrect.">
            <a:extLst>
              <a:ext uri="{FF2B5EF4-FFF2-40B4-BE49-F238E27FC236}">
                <a16:creationId xmlns:a16="http://schemas.microsoft.com/office/drawing/2014/main" id="{D319D89C-FCC0-051A-D835-7527C42E32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49" r="8976"/>
          <a:stretch>
            <a:fillRect/>
          </a:stretch>
        </p:blipFill>
        <p:spPr>
          <a:xfrm rot="5400000">
            <a:off x="-381000" y="381975"/>
            <a:ext cx="6858000" cy="6096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53054-C157-BBB5-645F-6176316A5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2251587"/>
            <a:ext cx="5147730" cy="363793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GB">
                <a:ea typeface="Calibri"/>
                <a:cs typeface="Calibri"/>
              </a:rPr>
              <a:t>From testing day 1 we concluded that our most pressing issue with the UI.  We decided to do a sprint from testing day to beta in order to resolve this issue. </a:t>
            </a:r>
          </a:p>
          <a:p>
            <a:pPr marL="0" indent="0">
              <a:buNone/>
            </a:pPr>
            <a:endParaRPr lang="en-GB" b="1">
              <a:ea typeface="Calibri" panose="020F0502020204030204"/>
              <a:cs typeface="Calibri" panose="020F0502020204030204"/>
            </a:endParaRPr>
          </a:p>
          <a:p>
            <a:pPr>
              <a:buAutoNum type="arabicParenR"/>
            </a:pPr>
            <a:endParaRPr lang="en-GB">
              <a:highlight>
                <a:srgbClr val="0D1117"/>
              </a:highlight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endParaRPr lang="en-GB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endParaRPr lang="en-GB">
              <a:highlight>
                <a:srgbClr val="0D1117"/>
              </a:highlight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endParaRPr lang="en-GB">
              <a:highlight>
                <a:srgbClr val="0D1117"/>
              </a:highlight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endParaRPr lang="en-GB">
              <a:highlight>
                <a:srgbClr val="0D1117"/>
              </a:highlight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0"/>
              </a:spcAft>
              <a:buClr>
                <a:srgbClr val="FFFFFF"/>
              </a:buClr>
            </a:pPr>
            <a:endParaRPr lang="en-US">
              <a:highlight>
                <a:srgbClr val="0D1117"/>
              </a:highlight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  <a:buAutoNum type="arabicParenR"/>
            </a:pPr>
            <a:endParaRPr lang="en-GB">
              <a:highlight>
                <a:srgbClr val="0D1117"/>
              </a:highlight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76554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2B58-D75A-210A-F4C8-F0099180D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r>
              <a:rPr lang="en-GB" b="1">
                <a:latin typeface="Calibri"/>
                <a:ea typeface="Calibri"/>
                <a:cs typeface="Calibri"/>
              </a:rPr>
              <a:t>AI Prototype mock-up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E7A1F-430B-384B-C7CA-0573EB5C5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78" y="2261420"/>
            <a:ext cx="4002936" cy="3637935"/>
          </a:xfrm>
        </p:spPr>
        <p:txBody>
          <a:bodyPr>
            <a:normAutofit/>
          </a:bodyPr>
          <a:lstStyle/>
          <a:p>
            <a:endParaRPr lang="en-GB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2CC81C-AE66-E79F-817F-FFDE68FAF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914" y="1366832"/>
            <a:ext cx="5102943" cy="5102943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7678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9B2C0-5C67-365F-2512-B698B486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Pre testing day</a:t>
            </a:r>
          </a:p>
        </p:txBody>
      </p:sp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1848B048-910A-3F96-3FF9-6875BEA4B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990" y="1913151"/>
            <a:ext cx="8094778" cy="4105357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6F66D13-06E6-9CEB-FD60-9E66DEB39850}"/>
              </a:ext>
            </a:extLst>
          </p:cNvPr>
          <p:cNvCxnSpPr/>
          <p:nvPr/>
        </p:nvCxnSpPr>
        <p:spPr>
          <a:xfrm>
            <a:off x="8944979" y="1360563"/>
            <a:ext cx="43422" cy="506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36A613C-D5C6-696E-C632-A6155E7398EB}"/>
              </a:ext>
            </a:extLst>
          </p:cNvPr>
          <p:cNvCxnSpPr/>
          <p:nvPr/>
        </p:nvCxnSpPr>
        <p:spPr>
          <a:xfrm flipV="1">
            <a:off x="5808851" y="5013430"/>
            <a:ext cx="91731" cy="1340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E996665-017E-9A4D-6DC3-D350FEB2F7E2}"/>
              </a:ext>
            </a:extLst>
          </p:cNvPr>
          <p:cNvCxnSpPr/>
          <p:nvPr/>
        </p:nvCxnSpPr>
        <p:spPr>
          <a:xfrm flipV="1">
            <a:off x="3396578" y="5635474"/>
            <a:ext cx="250900" cy="665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1078E30-C13B-4042-75B0-CDB06A641EA9}"/>
              </a:ext>
            </a:extLst>
          </p:cNvPr>
          <p:cNvCxnSpPr/>
          <p:nvPr/>
        </p:nvCxnSpPr>
        <p:spPr>
          <a:xfrm>
            <a:off x="1534252" y="3372460"/>
            <a:ext cx="1157926" cy="4342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B2B5CA-1708-6C38-BD42-BBF883A57CEA}"/>
              </a:ext>
            </a:extLst>
          </p:cNvPr>
          <p:cNvCxnSpPr/>
          <p:nvPr/>
        </p:nvCxnSpPr>
        <p:spPr>
          <a:xfrm>
            <a:off x="5818579" y="1013185"/>
            <a:ext cx="72370" cy="853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3BB594B-2E48-E2FE-9BAA-07F3FE11369D}"/>
              </a:ext>
            </a:extLst>
          </p:cNvPr>
          <p:cNvSpPr txBox="1"/>
          <p:nvPr/>
        </p:nvSpPr>
        <p:spPr>
          <a:xfrm>
            <a:off x="4805279" y="636722"/>
            <a:ext cx="237374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>
                <a:ea typeface="Calibri"/>
                <a:cs typeface="Calibri"/>
              </a:rPr>
              <a:t>Time ela</a:t>
            </a:r>
            <a:r>
              <a:rPr lang="en-GB">
                <a:ea typeface="Calibri"/>
                <a:cs typeface="Calibri"/>
              </a:rPr>
              <a:t>psed</a:t>
            </a:r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B21916-F59A-3E4D-0DF6-95F34EBDA5A9}"/>
              </a:ext>
            </a:extLst>
          </p:cNvPr>
          <p:cNvSpPr txBox="1"/>
          <p:nvPr/>
        </p:nvSpPr>
        <p:spPr>
          <a:xfrm>
            <a:off x="4911380" y="6298671"/>
            <a:ext cx="237374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Calibri"/>
                <a:cs typeface="Calibri"/>
              </a:rPr>
              <a:t>Wheel angle</a:t>
            </a:r>
            <a:endParaRPr lang="en-GB" dirty="0"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D03A4B-0005-92CA-7C6D-3BA565088D66}"/>
              </a:ext>
            </a:extLst>
          </p:cNvPr>
          <p:cNvSpPr txBox="1"/>
          <p:nvPr/>
        </p:nvSpPr>
        <p:spPr>
          <a:xfrm>
            <a:off x="349026" y="3096342"/>
            <a:ext cx="237374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>
                <a:ea typeface="Calibri"/>
                <a:cs typeface="Calibri"/>
              </a:rPr>
              <a:t>Time ela</a:t>
            </a:r>
            <a:r>
              <a:rPr lang="en-GB">
                <a:ea typeface="Calibri"/>
                <a:cs typeface="Calibri"/>
              </a:rPr>
              <a:t>psed</a:t>
            </a:r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40063-0AD3-D49F-4BD2-7377D49C3222}"/>
              </a:ext>
            </a:extLst>
          </p:cNvPr>
          <p:cNvSpPr txBox="1"/>
          <p:nvPr/>
        </p:nvSpPr>
        <p:spPr>
          <a:xfrm>
            <a:off x="7785759" y="1109354"/>
            <a:ext cx="237374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Calibri"/>
                <a:cs typeface="Calibri"/>
              </a:rPr>
              <a:t>Play/Pause</a:t>
            </a:r>
            <a:endParaRPr lang="en-GB" dirty="0"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1C2DC2-E322-1C81-3B37-8ED5E68E000A}"/>
              </a:ext>
            </a:extLst>
          </p:cNvPr>
          <p:cNvSpPr txBox="1"/>
          <p:nvPr/>
        </p:nvSpPr>
        <p:spPr>
          <a:xfrm>
            <a:off x="2567507" y="6298671"/>
            <a:ext cx="237374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Calibri"/>
                <a:cs typeface="Calibri"/>
              </a:rPr>
              <a:t>Progress bar</a:t>
            </a:r>
            <a:endParaRPr lang="en-GB" dirty="0">
              <a:ea typeface="Calibri"/>
              <a:cs typeface="Calibri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464BF64-0B44-98D7-4361-41C27F3793F9}"/>
              </a:ext>
            </a:extLst>
          </p:cNvPr>
          <p:cNvCxnSpPr/>
          <p:nvPr/>
        </p:nvCxnSpPr>
        <p:spPr>
          <a:xfrm flipH="1">
            <a:off x="9393744" y="1148292"/>
            <a:ext cx="390617" cy="718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26AB511-9A27-B017-4144-55DA58521B26}"/>
              </a:ext>
            </a:extLst>
          </p:cNvPr>
          <p:cNvSpPr txBox="1"/>
          <p:nvPr/>
        </p:nvSpPr>
        <p:spPr>
          <a:xfrm>
            <a:off x="9552891" y="810548"/>
            <a:ext cx="11579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Calibri"/>
                <a:cs typeface="Calibri"/>
              </a:rPr>
              <a:t>Lap #</a:t>
            </a:r>
            <a:endParaRPr lang="en-GB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933559F-A514-6DBA-BE7E-6E40EFA89648}"/>
              </a:ext>
            </a:extLst>
          </p:cNvPr>
          <p:cNvCxnSpPr/>
          <p:nvPr/>
        </p:nvCxnSpPr>
        <p:spPr>
          <a:xfrm flipH="1">
            <a:off x="9997079" y="1432739"/>
            <a:ext cx="554293" cy="410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F1AC3C3-E010-8510-2613-5C22821CD2ED}"/>
              </a:ext>
            </a:extLst>
          </p:cNvPr>
          <p:cNvSpPr txBox="1"/>
          <p:nvPr/>
        </p:nvSpPr>
        <p:spPr>
          <a:xfrm>
            <a:off x="10623972" y="1114504"/>
            <a:ext cx="115792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Calibri"/>
                <a:cs typeface="Calibri"/>
              </a:rPr>
              <a:t>Playback speed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65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55D77-AF67-EC6E-85DC-58AE99C04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59" y="1929"/>
            <a:ext cx="10131425" cy="1456267"/>
          </a:xfrm>
        </p:spPr>
        <p:txBody>
          <a:bodyPr/>
          <a:lstStyle/>
          <a:p>
            <a:r>
              <a:rPr lang="en-GB">
                <a:ea typeface="Calibri Light"/>
                <a:cs typeface="Calibri Light"/>
              </a:rPr>
              <a:t>Post testing 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4A699-1868-BED9-312A-67B8C4257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D06FAAD8-5B61-090F-3D09-C2D8636F8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49" y="2064580"/>
            <a:ext cx="9170817" cy="410065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CC39B85-105F-C016-2C5F-29FC0274543C}"/>
              </a:ext>
            </a:extLst>
          </p:cNvPr>
          <p:cNvCxnSpPr/>
          <p:nvPr/>
        </p:nvCxnSpPr>
        <p:spPr>
          <a:xfrm>
            <a:off x="651333" y="4704075"/>
            <a:ext cx="1201348" cy="405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F1FD94-974C-0060-4671-5F0C1D54168B}"/>
              </a:ext>
            </a:extLst>
          </p:cNvPr>
          <p:cNvCxnSpPr/>
          <p:nvPr/>
        </p:nvCxnSpPr>
        <p:spPr>
          <a:xfrm flipH="1">
            <a:off x="2079622" y="1724292"/>
            <a:ext cx="448468" cy="1683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E34F7E7-0189-48DA-B0AC-49F6F90F812F}"/>
              </a:ext>
            </a:extLst>
          </p:cNvPr>
          <p:cNvCxnSpPr>
            <a:cxnSpLocks/>
          </p:cNvCxnSpPr>
          <p:nvPr/>
        </p:nvCxnSpPr>
        <p:spPr>
          <a:xfrm flipH="1" flipV="1">
            <a:off x="9130532" y="5211164"/>
            <a:ext cx="207329" cy="1143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34D8237-B851-5C01-353E-C66415461325}"/>
              </a:ext>
            </a:extLst>
          </p:cNvPr>
          <p:cNvCxnSpPr>
            <a:cxnSpLocks/>
          </p:cNvCxnSpPr>
          <p:nvPr/>
        </p:nvCxnSpPr>
        <p:spPr>
          <a:xfrm flipH="1" flipV="1">
            <a:off x="6535875" y="5423368"/>
            <a:ext cx="226619" cy="853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D17E999-B96A-6C93-3128-FBA217352794}"/>
              </a:ext>
            </a:extLst>
          </p:cNvPr>
          <p:cNvCxnSpPr>
            <a:cxnSpLocks/>
          </p:cNvCxnSpPr>
          <p:nvPr/>
        </p:nvCxnSpPr>
        <p:spPr>
          <a:xfrm flipH="1" flipV="1">
            <a:off x="5253013" y="5336557"/>
            <a:ext cx="583506" cy="1056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F7B5F5F-2226-6F77-3AA0-6E86214181EA}"/>
              </a:ext>
            </a:extLst>
          </p:cNvPr>
          <p:cNvCxnSpPr>
            <a:cxnSpLocks/>
          </p:cNvCxnSpPr>
          <p:nvPr/>
        </p:nvCxnSpPr>
        <p:spPr>
          <a:xfrm flipH="1" flipV="1">
            <a:off x="4037671" y="5413721"/>
            <a:ext cx="458113" cy="1133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F84C9A0-913F-A12E-FE33-21E9E829C261}"/>
              </a:ext>
            </a:extLst>
          </p:cNvPr>
          <p:cNvCxnSpPr>
            <a:cxnSpLocks/>
          </p:cNvCxnSpPr>
          <p:nvPr/>
        </p:nvCxnSpPr>
        <p:spPr>
          <a:xfrm flipH="1">
            <a:off x="7047090" y="1492798"/>
            <a:ext cx="448468" cy="1683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9C1E654-BA91-5483-8125-E74FC9EECF92}"/>
              </a:ext>
            </a:extLst>
          </p:cNvPr>
          <p:cNvCxnSpPr>
            <a:cxnSpLocks/>
          </p:cNvCxnSpPr>
          <p:nvPr/>
        </p:nvCxnSpPr>
        <p:spPr>
          <a:xfrm flipH="1">
            <a:off x="3507166" y="1521734"/>
            <a:ext cx="448468" cy="1181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C01726-E3AE-4ED0-99DE-7EEA170EC46B}"/>
              </a:ext>
            </a:extLst>
          </p:cNvPr>
          <p:cNvCxnSpPr>
            <a:cxnSpLocks/>
          </p:cNvCxnSpPr>
          <p:nvPr/>
        </p:nvCxnSpPr>
        <p:spPr>
          <a:xfrm flipH="1">
            <a:off x="5253015" y="1270949"/>
            <a:ext cx="207329" cy="786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7A47D90-8F57-41D6-02B5-DDD03FF2A7A3}"/>
              </a:ext>
            </a:extLst>
          </p:cNvPr>
          <p:cNvCxnSpPr>
            <a:cxnSpLocks/>
          </p:cNvCxnSpPr>
          <p:nvPr/>
        </p:nvCxnSpPr>
        <p:spPr>
          <a:xfrm>
            <a:off x="8715029" y="1299189"/>
            <a:ext cx="487576" cy="791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5C65BD-E331-1926-6B2C-5EA74E4E08BF}"/>
              </a:ext>
            </a:extLst>
          </p:cNvPr>
          <p:cNvCxnSpPr>
            <a:cxnSpLocks/>
          </p:cNvCxnSpPr>
          <p:nvPr/>
        </p:nvCxnSpPr>
        <p:spPr>
          <a:xfrm flipH="1">
            <a:off x="9559490" y="1250961"/>
            <a:ext cx="235841" cy="800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A3A875-1BB9-227B-1AD4-E64D32809D10}"/>
              </a:ext>
            </a:extLst>
          </p:cNvPr>
          <p:cNvCxnSpPr>
            <a:cxnSpLocks/>
          </p:cNvCxnSpPr>
          <p:nvPr/>
        </p:nvCxnSpPr>
        <p:spPr>
          <a:xfrm flipH="1">
            <a:off x="10128579" y="1260606"/>
            <a:ext cx="1017132" cy="800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7904EA-EACB-62DE-9946-6C386F8F8EE4}"/>
              </a:ext>
            </a:extLst>
          </p:cNvPr>
          <p:cNvCxnSpPr>
            <a:cxnSpLocks/>
          </p:cNvCxnSpPr>
          <p:nvPr/>
        </p:nvCxnSpPr>
        <p:spPr>
          <a:xfrm flipH="1" flipV="1">
            <a:off x="10504756" y="2099929"/>
            <a:ext cx="689183" cy="96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9A65C8D-85D8-7365-69E9-D68135B5F566}"/>
              </a:ext>
            </a:extLst>
          </p:cNvPr>
          <p:cNvSpPr txBox="1"/>
          <p:nvPr/>
        </p:nvSpPr>
        <p:spPr>
          <a:xfrm>
            <a:off x="2171111" y="1317141"/>
            <a:ext cx="10131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rgbClr val="92D050"/>
                </a:solidFill>
                <a:ea typeface="Calibri"/>
                <a:cs typeface="Calibri"/>
              </a:rPr>
              <a:t>Rev Counter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181523-5C97-951F-4144-5FBF34B3F124}"/>
              </a:ext>
            </a:extLst>
          </p:cNvPr>
          <p:cNvSpPr txBox="1"/>
          <p:nvPr/>
        </p:nvSpPr>
        <p:spPr>
          <a:xfrm>
            <a:off x="3251414" y="998836"/>
            <a:ext cx="148581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Calibri"/>
                <a:cs typeface="Calibri"/>
              </a:rPr>
              <a:t> </a:t>
            </a:r>
            <a:r>
              <a:rPr lang="en-GB">
                <a:solidFill>
                  <a:srgbClr val="FFC000"/>
                </a:solidFill>
                <a:ea typeface="Calibri"/>
                <a:cs typeface="Calibri"/>
              </a:rPr>
              <a:t>AI generated commentary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68DA46-1560-A0C3-C747-3EF5F7EDDDF0}"/>
              </a:ext>
            </a:extLst>
          </p:cNvPr>
          <p:cNvSpPr txBox="1"/>
          <p:nvPr/>
        </p:nvSpPr>
        <p:spPr>
          <a:xfrm>
            <a:off x="8672225" y="6236382"/>
            <a:ext cx="11771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rgbClr val="FFC000"/>
                </a:solidFill>
                <a:ea typeface="Calibri"/>
                <a:cs typeface="Calibri"/>
              </a:rPr>
              <a:t>Heatmap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89CCBD-4906-1703-B721-DC9DAB7EAE59}"/>
              </a:ext>
            </a:extLst>
          </p:cNvPr>
          <p:cNvSpPr txBox="1"/>
          <p:nvPr/>
        </p:nvSpPr>
        <p:spPr>
          <a:xfrm>
            <a:off x="11054680" y="2117723"/>
            <a:ext cx="10131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rgbClr val="FF0000"/>
                </a:solidFill>
                <a:ea typeface="Calibri"/>
                <a:cs typeface="Calibri"/>
              </a:rPr>
              <a:t>Playback </a:t>
            </a:r>
            <a:r>
              <a:rPr lang="en-GB" err="1">
                <a:solidFill>
                  <a:srgbClr val="FF0000"/>
                </a:solidFill>
                <a:ea typeface="Calibri"/>
                <a:cs typeface="Calibri"/>
              </a:rPr>
              <a:t>spe</a:t>
            </a:r>
            <a:r>
              <a:rPr lang="en-GB">
                <a:solidFill>
                  <a:srgbClr val="FF0000"/>
                </a:solidFill>
                <a:ea typeface="Calibri"/>
                <a:cs typeface="Calibri"/>
              </a:rPr>
              <a:t>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90F530-B670-D1C1-57F6-62E8B700E466}"/>
              </a:ext>
            </a:extLst>
          </p:cNvPr>
          <p:cNvSpPr txBox="1"/>
          <p:nvPr/>
        </p:nvSpPr>
        <p:spPr>
          <a:xfrm>
            <a:off x="11054681" y="834862"/>
            <a:ext cx="10131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rgbClr val="FF0000"/>
                </a:solidFill>
                <a:ea typeface="Calibri"/>
                <a:cs typeface="Calibri"/>
              </a:rPr>
              <a:t>Lap # selector</a:t>
            </a:r>
            <a:r>
              <a:rPr lang="en-GB">
                <a:ea typeface="Calibri"/>
                <a:cs typeface="Calibri"/>
              </a:rPr>
              <a:t> 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9320C1-22AD-A5E1-3336-DDC2A291F665}"/>
              </a:ext>
            </a:extLst>
          </p:cNvPr>
          <p:cNvSpPr txBox="1"/>
          <p:nvPr/>
        </p:nvSpPr>
        <p:spPr>
          <a:xfrm>
            <a:off x="9231667" y="998836"/>
            <a:ext cx="12350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rgbClr val="FF0000"/>
                </a:solidFill>
                <a:ea typeface="Calibri"/>
                <a:cs typeface="Calibri"/>
              </a:rPr>
              <a:t>Play/Pause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483CF8-C344-2067-35B0-EF39CC1BB8B0}"/>
              </a:ext>
            </a:extLst>
          </p:cNvPr>
          <p:cNvSpPr txBox="1"/>
          <p:nvPr/>
        </p:nvSpPr>
        <p:spPr>
          <a:xfrm>
            <a:off x="8074199" y="767343"/>
            <a:ext cx="10131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rgbClr val="FFC000"/>
                </a:solidFill>
                <a:ea typeface="Calibri"/>
                <a:cs typeface="Calibri"/>
              </a:rPr>
              <a:t>Mute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8F1024-8F57-D304-0A48-90DEF996AFCB}"/>
              </a:ext>
            </a:extLst>
          </p:cNvPr>
          <p:cNvSpPr txBox="1"/>
          <p:nvPr/>
        </p:nvSpPr>
        <p:spPr>
          <a:xfrm>
            <a:off x="7003541" y="960254"/>
            <a:ext cx="10131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rgbClr val="92D050"/>
                </a:solidFill>
                <a:ea typeface="Calibri"/>
                <a:cs typeface="Calibri"/>
              </a:rPr>
              <a:t>Speed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874D17-291C-29C2-8282-1D483C0EEDE8}"/>
              </a:ext>
            </a:extLst>
          </p:cNvPr>
          <p:cNvSpPr txBox="1"/>
          <p:nvPr/>
        </p:nvSpPr>
        <p:spPr>
          <a:xfrm>
            <a:off x="5035845" y="719115"/>
            <a:ext cx="10131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rgbClr val="FF0000"/>
                </a:solidFill>
                <a:ea typeface="Calibri"/>
                <a:cs typeface="Calibri"/>
              </a:rPr>
              <a:t>Elapsed time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8C7C07-E850-848D-BD88-432500342A3C}"/>
              </a:ext>
            </a:extLst>
          </p:cNvPr>
          <p:cNvSpPr txBox="1"/>
          <p:nvPr/>
        </p:nvSpPr>
        <p:spPr>
          <a:xfrm>
            <a:off x="232350" y="4374785"/>
            <a:ext cx="10131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rgbClr val="FF0000"/>
                </a:solidFill>
                <a:ea typeface="Calibri"/>
                <a:cs typeface="Calibri"/>
              </a:rPr>
              <a:t>Wheel angle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D127AD-D8D0-E0D9-26B8-349558925FBD}"/>
              </a:ext>
            </a:extLst>
          </p:cNvPr>
          <p:cNvSpPr txBox="1"/>
          <p:nvPr/>
        </p:nvSpPr>
        <p:spPr>
          <a:xfrm>
            <a:off x="3974832" y="6207444"/>
            <a:ext cx="10131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rgbClr val="92D050"/>
                </a:solidFill>
                <a:ea typeface="Calibri"/>
                <a:cs typeface="Calibri"/>
              </a:rPr>
              <a:t>Brake 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995ADF-3E55-CD1F-80F1-F864B3C3BA0F}"/>
              </a:ext>
            </a:extLst>
          </p:cNvPr>
          <p:cNvSpPr txBox="1"/>
          <p:nvPr/>
        </p:nvSpPr>
        <p:spPr>
          <a:xfrm>
            <a:off x="5286630" y="6101344"/>
            <a:ext cx="10131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rgbClr val="FF0000"/>
                </a:solidFill>
                <a:ea typeface="Calibri"/>
                <a:cs typeface="Calibri"/>
              </a:rPr>
              <a:t>Break temp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DD732A-DD3A-332A-EC17-74D0F04A3DF1}"/>
              </a:ext>
            </a:extLst>
          </p:cNvPr>
          <p:cNvSpPr txBox="1"/>
          <p:nvPr/>
        </p:nvSpPr>
        <p:spPr>
          <a:xfrm>
            <a:off x="6299414" y="6101343"/>
            <a:ext cx="10131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rgbClr val="92D050"/>
                </a:solidFill>
                <a:ea typeface="Calibri"/>
                <a:cs typeface="Calibri"/>
              </a:rPr>
              <a:t>Fuel gauge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B2E836-51F2-A543-BCB0-7438CEEB363D}"/>
              </a:ext>
            </a:extLst>
          </p:cNvPr>
          <p:cNvSpPr txBox="1"/>
          <p:nvPr/>
        </p:nvSpPr>
        <p:spPr>
          <a:xfrm>
            <a:off x="10821850" y="3420631"/>
            <a:ext cx="1394212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400">
                <a:ea typeface="Calibri"/>
                <a:cs typeface="Calibri"/>
              </a:rPr>
              <a:t>Key:</a:t>
            </a:r>
          </a:p>
          <a:p>
            <a:r>
              <a:rPr lang="en-GB" sz="1400">
                <a:solidFill>
                  <a:srgbClr val="92D050"/>
                </a:solidFill>
                <a:ea typeface="Calibri"/>
                <a:cs typeface="Calibri"/>
              </a:rPr>
              <a:t>-Improvements</a:t>
            </a:r>
          </a:p>
          <a:p>
            <a:r>
              <a:rPr lang="en-GB" sz="1400">
                <a:solidFill>
                  <a:srgbClr val="FFC000"/>
                </a:solidFill>
                <a:ea typeface="Calibri"/>
                <a:cs typeface="Calibri"/>
              </a:rPr>
              <a:t>-Additions</a:t>
            </a:r>
          </a:p>
          <a:p>
            <a:r>
              <a:rPr lang="en-GB" sz="1400">
                <a:solidFill>
                  <a:srgbClr val="FF0000"/>
                </a:solidFill>
                <a:ea typeface="Calibri"/>
                <a:cs typeface="Calibri"/>
              </a:rPr>
              <a:t>-No change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FDCDD67-AE14-FE41-9A61-6DA8AEBF8906}"/>
              </a:ext>
            </a:extLst>
          </p:cNvPr>
          <p:cNvCxnSpPr>
            <a:cxnSpLocks/>
          </p:cNvCxnSpPr>
          <p:nvPr/>
        </p:nvCxnSpPr>
        <p:spPr>
          <a:xfrm flipV="1">
            <a:off x="1278294" y="6064261"/>
            <a:ext cx="892690" cy="221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463DED6-57D6-B470-17FD-09FAE2FF934A}"/>
              </a:ext>
            </a:extLst>
          </p:cNvPr>
          <p:cNvSpPr txBox="1"/>
          <p:nvPr/>
        </p:nvSpPr>
        <p:spPr>
          <a:xfrm>
            <a:off x="492780" y="6246026"/>
            <a:ext cx="151475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err="1">
                <a:solidFill>
                  <a:srgbClr val="92D050"/>
                </a:solidFill>
                <a:ea typeface="Calibri"/>
                <a:cs typeface="Calibri"/>
              </a:rPr>
              <a:t>Progres</a:t>
            </a:r>
            <a:r>
              <a:rPr lang="en-GB">
                <a:solidFill>
                  <a:srgbClr val="92D050"/>
                </a:solidFill>
                <a:ea typeface="Calibri"/>
                <a:cs typeface="Calibri"/>
              </a:rPr>
              <a:t>s bar</a:t>
            </a:r>
          </a:p>
        </p:txBody>
      </p:sp>
    </p:spTree>
    <p:extLst>
      <p:ext uri="{BB962C8B-B14F-4D97-AF65-F5344CB8AC3E}">
        <p14:creationId xmlns:p14="http://schemas.microsoft.com/office/powerpoint/2010/main" val="4129209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7F361-F646-0D0D-3A77-F04B48237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TESTING DAY 2 CHANGES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AC517-F8CF-EA74-2260-4EC04679A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537535"/>
            <a:ext cx="10131425" cy="364913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endParaRPr lang="en-GB">
              <a:ea typeface="Calibri"/>
              <a:cs typeface="Calibri"/>
            </a:endParaRPr>
          </a:p>
          <a:p>
            <a:pPr marL="0" indent="0">
              <a:buNone/>
            </a:pPr>
            <a:endParaRPr lang="en-GB">
              <a:ea typeface="Calibri"/>
              <a:cs typeface="Calibri"/>
            </a:endParaRPr>
          </a:p>
          <a:p>
            <a:pPr marL="0" indent="0">
              <a:buNone/>
            </a:pPr>
            <a:endParaRPr lang="en-GB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u="sng">
                <a:ea typeface="Calibri"/>
                <a:cs typeface="Calibri"/>
              </a:rPr>
              <a:t>Positives:</a:t>
            </a:r>
            <a:endParaRPr lang="en-GB" u="sng" dirty="0">
              <a:ea typeface="Calibri"/>
              <a:cs typeface="Calibri"/>
            </a:endParaRPr>
          </a:p>
          <a:p>
            <a:pPr marL="457200" indent="-457200">
              <a:buClr>
                <a:srgbClr val="FFFFFF"/>
              </a:buClr>
              <a:buAutoNum type="arabicPeriod"/>
            </a:pPr>
            <a:r>
              <a:rPr lang="en-GB">
                <a:ea typeface="Calibri"/>
                <a:cs typeface="Calibri"/>
              </a:rPr>
              <a:t>Users liked the new UI</a:t>
            </a:r>
            <a:endParaRPr lang="en-GB" dirty="0">
              <a:ea typeface="Calibri"/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endParaRPr lang="en-GB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u="sng">
                <a:ea typeface="Calibri"/>
                <a:cs typeface="Calibri"/>
              </a:rPr>
              <a:t>Issues:</a:t>
            </a:r>
            <a:endParaRPr lang="en-US" u="sng">
              <a:ea typeface="Calibri" panose="020F0502020204030204"/>
              <a:cs typeface="Calibri" panose="020F0502020204030204"/>
            </a:endParaRPr>
          </a:p>
          <a:p>
            <a:pPr marL="342900" indent="-342900">
              <a:buAutoNum type="arabicPeriod"/>
            </a:pPr>
            <a:r>
              <a:rPr lang="en-GB">
                <a:ea typeface="Calibri"/>
                <a:cs typeface="Calibri"/>
              </a:rPr>
              <a:t>Lack of cars</a:t>
            </a:r>
            <a:endParaRPr lang="en-GB" dirty="0">
              <a:ea typeface="Calibri"/>
              <a:cs typeface="Calibri"/>
            </a:endParaRPr>
          </a:p>
          <a:p>
            <a:pPr marL="342900" indent="-342900">
              <a:buClr>
                <a:srgbClr val="FFFFFF"/>
              </a:buClr>
              <a:buAutoNum type="arabicPeriod"/>
            </a:pPr>
            <a:r>
              <a:rPr lang="en-GB">
                <a:ea typeface="Calibri"/>
                <a:cs typeface="Calibri"/>
              </a:rPr>
              <a:t>AI voice</a:t>
            </a:r>
            <a:endParaRPr lang="en-GB" dirty="0">
              <a:ea typeface="Calibri"/>
              <a:cs typeface="Calibri"/>
            </a:endParaRPr>
          </a:p>
          <a:p>
            <a:pPr marL="342900" indent="-342900">
              <a:buClr>
                <a:srgbClr val="FFFFFF"/>
              </a:buClr>
              <a:buAutoNum type="arabicPeriod"/>
            </a:pPr>
            <a:endParaRPr lang="en-GB" u="sng" dirty="0">
              <a:ea typeface="Calibri" panose="020F0502020204030204"/>
              <a:cs typeface="Calibri" panose="020F0502020204030204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GB" u="sng">
                <a:ea typeface="Calibri" panose="020F0502020204030204"/>
                <a:cs typeface="Calibri" panose="020F0502020204030204"/>
              </a:rPr>
              <a:t>Resolutions (before final):</a:t>
            </a:r>
            <a:endParaRPr lang="en-GB" u="sng" dirty="0">
              <a:ea typeface="Calibri" panose="020F0502020204030204"/>
              <a:cs typeface="Calibri" panose="020F0502020204030204"/>
            </a:endParaRPr>
          </a:p>
          <a:p>
            <a:pPr marL="342900" indent="-342900">
              <a:buAutoNum type="arabicPeriod"/>
            </a:pPr>
            <a:r>
              <a:rPr lang="en-GB" dirty="0">
                <a:ea typeface="Calibri" panose="020F0502020204030204"/>
                <a:cs typeface="Calibri" panose="020F0502020204030204"/>
              </a:rPr>
              <a:t>Utilise FastF1 to fetch data on additional cars</a:t>
            </a:r>
          </a:p>
          <a:p>
            <a:pPr marL="342900" indent="-342900">
              <a:buClr>
                <a:srgbClr val="FFFFFF"/>
              </a:buClr>
              <a:buAutoNum type="arabicPeriod"/>
            </a:pPr>
            <a:r>
              <a:rPr lang="en-GB">
                <a:ea typeface="Calibri"/>
                <a:cs typeface="Calibri"/>
              </a:rPr>
              <a:t>Experiment with more in depth AI prompts and different voice types</a:t>
            </a:r>
          </a:p>
          <a:p>
            <a:pPr marL="342900" indent="-342900">
              <a:buClr>
                <a:srgbClr val="FFFFFF"/>
              </a:buClr>
              <a:buAutoNum type="arabicPeriod"/>
            </a:pPr>
            <a:endParaRPr lang="en-GB">
              <a:ea typeface="Calibri"/>
              <a:cs typeface="Calibri"/>
            </a:endParaRPr>
          </a:p>
          <a:p>
            <a:pPr marL="342900" indent="-342900">
              <a:buClr>
                <a:srgbClr val="FFFFFF"/>
              </a:buClr>
              <a:buAutoNum type="arabicPeriod"/>
            </a:pPr>
            <a:endParaRPr lang="en-GB">
              <a:ea typeface="Calibri"/>
              <a:cs typeface="Calibri"/>
            </a:endParaRPr>
          </a:p>
          <a:p>
            <a:pPr marL="342900" indent="-342900">
              <a:buClr>
                <a:srgbClr val="FFFFFF"/>
              </a:buClr>
              <a:buAutoNum type="arabicPeriod"/>
            </a:pPr>
            <a:endParaRPr lang="en-GB">
              <a:ea typeface="Calibri"/>
              <a:cs typeface="Calibri"/>
            </a:endParaRPr>
          </a:p>
          <a:p>
            <a:pPr marL="342900" indent="-342900">
              <a:buClr>
                <a:srgbClr val="FFFFFF"/>
              </a:buClr>
              <a:buAutoNum type="arabicPeriod"/>
            </a:pPr>
            <a:endParaRPr lang="en-GB">
              <a:ea typeface="Calibri"/>
              <a:cs typeface="Calibri"/>
            </a:endParaRPr>
          </a:p>
          <a:p>
            <a:pPr marL="342900" indent="-342900">
              <a:buClr>
                <a:srgbClr val="FFFFFF"/>
              </a:buClr>
              <a:buAutoNum type="arabicPeriod"/>
            </a:pPr>
            <a:endParaRPr lang="en-GB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6970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DA5E2-F67D-7E2B-629B-B91ED19D5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Client Feedback</a:t>
            </a:r>
            <a:endParaRPr lang="en-GB"/>
          </a:p>
        </p:txBody>
      </p:sp>
      <p:pic>
        <p:nvPicPr>
          <p:cNvPr id="4" name="Content Placeholder 3" descr="A screenshot of a web page&#10;&#10;AI-generated content may be incorrect.">
            <a:extLst>
              <a:ext uri="{FF2B5EF4-FFF2-40B4-BE49-F238E27FC236}">
                <a16:creationId xmlns:a16="http://schemas.microsoft.com/office/drawing/2014/main" id="{0E65880A-5EB3-83FB-1E75-07FEF00E22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904" r="-3820" b="43131"/>
          <a:stretch>
            <a:fillRect/>
          </a:stretch>
        </p:blipFill>
        <p:spPr>
          <a:xfrm>
            <a:off x="6657604" y="1341485"/>
            <a:ext cx="4621472" cy="457349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A085A4-AFF6-3600-A205-73A899C4EC9F}"/>
              </a:ext>
            </a:extLst>
          </p:cNvPr>
          <p:cNvSpPr txBox="1"/>
          <p:nvPr/>
        </p:nvSpPr>
        <p:spPr>
          <a:xfrm>
            <a:off x="709253" y="2243482"/>
            <a:ext cx="5268139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>
                <a:ea typeface="Calibri"/>
                <a:cs typeface="Calibri"/>
              </a:rPr>
              <a:t>Our client feedback is somewhat ambiguous and uninformative but seems positive which makes us hopeful!</a:t>
            </a:r>
          </a:p>
        </p:txBody>
      </p:sp>
    </p:spTree>
    <p:extLst>
      <p:ext uri="{BB962C8B-B14F-4D97-AF65-F5344CB8AC3E}">
        <p14:creationId xmlns:p14="http://schemas.microsoft.com/office/powerpoint/2010/main" val="1275436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7AB1E-3487-B9EE-FC77-3158007EE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Our process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C46AD0-656C-7CA1-F90A-F1812A46377F}"/>
              </a:ext>
            </a:extLst>
          </p:cNvPr>
          <p:cNvSpPr txBox="1"/>
          <p:nvPr/>
        </p:nvSpPr>
        <p:spPr>
          <a:xfrm>
            <a:off x="689026" y="1716459"/>
            <a:ext cx="2910721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>
                <a:ea typeface="Calibri"/>
                <a:cs typeface="Calibri"/>
              </a:rPr>
              <a:t>Weekly Meetings:</a:t>
            </a:r>
          </a:p>
          <a:p>
            <a:endParaRPr lang="en-GB">
              <a:ea typeface="Calibri"/>
              <a:cs typeface="Calibri"/>
            </a:endParaRPr>
          </a:p>
          <a:p>
            <a:r>
              <a:rPr lang="en-GB" sz="1600">
                <a:ea typeface="Calibri"/>
                <a:cs typeface="Calibri"/>
              </a:rPr>
              <a:t>We met </a:t>
            </a:r>
            <a:r>
              <a:rPr lang="en-GB" sz="1600" b="1">
                <a:ea typeface="Calibri"/>
                <a:cs typeface="Calibri"/>
              </a:rPr>
              <a:t>every week on Friday</a:t>
            </a:r>
            <a:r>
              <a:rPr lang="en-GB" sz="1600">
                <a:ea typeface="Calibri"/>
                <a:cs typeface="Calibri"/>
              </a:rPr>
              <a:t> afternoon with other meetings scheduled as necessary. This allowed us to check progress and delegate tasks. We also used this time to choose this weeks </a:t>
            </a:r>
            <a:r>
              <a:rPr lang="en-GB" sz="1600" b="1">
                <a:ea typeface="Calibri"/>
                <a:cs typeface="Calibri"/>
              </a:rPr>
              <a:t>project manager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585976-B11A-0157-7126-1D0CAA2175B0}"/>
              </a:ext>
            </a:extLst>
          </p:cNvPr>
          <p:cNvSpPr txBox="1"/>
          <p:nvPr/>
        </p:nvSpPr>
        <p:spPr>
          <a:xfrm>
            <a:off x="6093210" y="4423310"/>
            <a:ext cx="2910721" cy="21544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>
                <a:ea typeface="Calibri"/>
                <a:cs typeface="Calibri"/>
              </a:rPr>
              <a:t>Meeting Mins:</a:t>
            </a:r>
          </a:p>
          <a:p>
            <a:endParaRPr lang="en-GB">
              <a:ea typeface="Calibri"/>
              <a:cs typeface="Calibri"/>
            </a:endParaRPr>
          </a:p>
          <a:p>
            <a:r>
              <a:rPr lang="en-GB" sz="1600">
                <a:ea typeface="Calibri"/>
                <a:cs typeface="Calibri"/>
              </a:rPr>
              <a:t>During the latter half of the project, we started writing meeting mins to </a:t>
            </a:r>
            <a:r>
              <a:rPr lang="en-GB" sz="1600" b="1">
                <a:ea typeface="Calibri"/>
                <a:cs typeface="Calibri"/>
              </a:rPr>
              <a:t>keep track of tasks</a:t>
            </a:r>
            <a:r>
              <a:rPr lang="en-GB" sz="1600">
                <a:ea typeface="Calibri"/>
                <a:cs typeface="Calibri"/>
              </a:rPr>
              <a:t> delegated and what we discussed. This helped </a:t>
            </a:r>
            <a:r>
              <a:rPr lang="en-GB" sz="1600" b="1">
                <a:ea typeface="Calibri"/>
                <a:cs typeface="Calibri"/>
              </a:rPr>
              <a:t>keep us on track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379F03-EBCA-5FCA-F31E-D795410361FA}"/>
              </a:ext>
            </a:extLst>
          </p:cNvPr>
          <p:cNvSpPr txBox="1"/>
          <p:nvPr/>
        </p:nvSpPr>
        <p:spPr>
          <a:xfrm>
            <a:off x="2147917" y="4683739"/>
            <a:ext cx="2910721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>
                <a:ea typeface="Calibri"/>
                <a:cs typeface="Calibri"/>
              </a:rPr>
              <a:t>GitHub:</a:t>
            </a:r>
          </a:p>
          <a:p>
            <a:endParaRPr lang="en-GB" sz="1600">
              <a:ea typeface="Calibri"/>
              <a:cs typeface="Calibri"/>
            </a:endParaRPr>
          </a:p>
          <a:p>
            <a:r>
              <a:rPr lang="en-GB" sz="1600">
                <a:ea typeface="Calibri"/>
                <a:cs typeface="Calibri"/>
              </a:rPr>
              <a:t>We implemented </a:t>
            </a:r>
            <a:r>
              <a:rPr lang="en-GB" sz="1600" b="1">
                <a:ea typeface="Calibri"/>
                <a:cs typeface="Calibri"/>
              </a:rPr>
              <a:t>templates</a:t>
            </a:r>
            <a:r>
              <a:rPr lang="en-GB" sz="1600">
                <a:ea typeface="Calibri"/>
                <a:cs typeface="Calibri"/>
              </a:rPr>
              <a:t> early, ensured a </a:t>
            </a:r>
            <a:r>
              <a:rPr lang="en-GB" sz="1600" b="1">
                <a:ea typeface="Calibri"/>
                <a:cs typeface="Calibri"/>
              </a:rPr>
              <a:t>detailed kanban</a:t>
            </a:r>
            <a:r>
              <a:rPr lang="en-GB" sz="1600">
                <a:ea typeface="Calibri"/>
                <a:cs typeface="Calibri"/>
              </a:rPr>
              <a:t> at all times, and had detailed </a:t>
            </a:r>
            <a:r>
              <a:rPr lang="en-GB" sz="1600" b="1">
                <a:ea typeface="Calibri"/>
                <a:cs typeface="Calibri"/>
              </a:rPr>
              <a:t>discussions within PRs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623456-572D-1405-E42C-E95ED55A334C}"/>
              </a:ext>
            </a:extLst>
          </p:cNvPr>
          <p:cNvSpPr txBox="1"/>
          <p:nvPr/>
        </p:nvSpPr>
        <p:spPr>
          <a:xfrm>
            <a:off x="4298499" y="1856827"/>
            <a:ext cx="2910721" cy="17235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>
                <a:ea typeface="Calibri"/>
                <a:cs typeface="Calibri"/>
              </a:rPr>
              <a:t>Agile Workflow:</a:t>
            </a:r>
          </a:p>
          <a:p>
            <a:endParaRPr lang="en-GB">
              <a:ea typeface="Calibri"/>
              <a:cs typeface="Calibri"/>
            </a:endParaRPr>
          </a:p>
          <a:p>
            <a:r>
              <a:rPr lang="en-GB" sz="1600">
                <a:ea typeface="Calibri"/>
                <a:cs typeface="Calibri"/>
              </a:rPr>
              <a:t>We ensured to </a:t>
            </a:r>
            <a:r>
              <a:rPr lang="en-GB" sz="1600" b="1">
                <a:ea typeface="Calibri"/>
                <a:cs typeface="Calibri"/>
              </a:rPr>
              <a:t>separate large jobs</a:t>
            </a:r>
            <a:r>
              <a:rPr lang="en-GB" sz="1600">
                <a:ea typeface="Calibri"/>
                <a:cs typeface="Calibri"/>
              </a:rPr>
              <a:t> into smaller manageable tasks, then organising these into regular </a:t>
            </a:r>
            <a:r>
              <a:rPr lang="en-GB" sz="1600" b="1">
                <a:ea typeface="Calibri"/>
                <a:cs typeface="Calibri"/>
              </a:rPr>
              <a:t>sprints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5642EC-37C1-0BE7-41F1-449DF74B713C}"/>
              </a:ext>
            </a:extLst>
          </p:cNvPr>
          <p:cNvSpPr txBox="1"/>
          <p:nvPr/>
        </p:nvSpPr>
        <p:spPr>
          <a:xfrm>
            <a:off x="8188710" y="1716459"/>
            <a:ext cx="2910721" cy="21544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>
                <a:ea typeface="Calibri"/>
                <a:cs typeface="Calibri"/>
              </a:rPr>
              <a:t>Teams:</a:t>
            </a:r>
          </a:p>
          <a:p>
            <a:endParaRPr lang="en-GB">
              <a:ea typeface="Calibri"/>
              <a:cs typeface="Calibri"/>
            </a:endParaRPr>
          </a:p>
          <a:p>
            <a:r>
              <a:rPr lang="en-GB" sz="1600">
                <a:ea typeface="Calibri"/>
                <a:cs typeface="Calibri"/>
              </a:rPr>
              <a:t>We utilised teams and channels without our team to </a:t>
            </a:r>
            <a:r>
              <a:rPr lang="en-GB" sz="1600" b="1">
                <a:ea typeface="Calibri"/>
                <a:cs typeface="Calibri"/>
              </a:rPr>
              <a:t>separate and compartmentalise</a:t>
            </a:r>
            <a:r>
              <a:rPr lang="en-GB" sz="1600">
                <a:ea typeface="Calibri"/>
                <a:cs typeface="Calibri"/>
              </a:rPr>
              <a:t> our work. This ensured everyone knew what to work on, and everything was </a:t>
            </a:r>
            <a:r>
              <a:rPr lang="en-GB" sz="1600" b="1">
                <a:ea typeface="Calibri"/>
                <a:cs typeface="Calibri"/>
              </a:rPr>
              <a:t>organised</a:t>
            </a:r>
          </a:p>
        </p:txBody>
      </p:sp>
    </p:spTree>
    <p:extLst>
      <p:ext uri="{BB962C8B-B14F-4D97-AF65-F5344CB8AC3E}">
        <p14:creationId xmlns:p14="http://schemas.microsoft.com/office/powerpoint/2010/main" val="2880702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AAA54-267D-18AF-CE84-6101AE350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Project Management </a:t>
            </a:r>
          </a:p>
        </p:txBody>
      </p:sp>
      <p:pic>
        <p:nvPicPr>
          <p:cNvPr id="7" name="Picture 6" descr="A screenshot of a chat&#10;&#10;AI-generated content may be incorrect.">
            <a:extLst>
              <a:ext uri="{FF2B5EF4-FFF2-40B4-BE49-F238E27FC236}">
                <a16:creationId xmlns:a16="http://schemas.microsoft.com/office/drawing/2014/main" id="{CFC66111-2A59-DEC9-2DEC-F826ACA55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348" y="4142047"/>
            <a:ext cx="5681078" cy="253807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57FEF0-75FB-5C32-0E30-B6EB883F1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59" y="1849538"/>
            <a:ext cx="7378801" cy="207829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Picture 10" descr="A screenshot of a black and white list&#10;&#10;AI-generated content may be incorrect.">
            <a:extLst>
              <a:ext uri="{FF2B5EF4-FFF2-40B4-BE49-F238E27FC236}">
                <a16:creationId xmlns:a16="http://schemas.microsoft.com/office/drawing/2014/main" id="{410D2ED4-F4D3-170C-02E0-954090177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3798" y="977800"/>
            <a:ext cx="3214028" cy="443679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861111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34B2E-9F19-D49C-AD9D-63B5939FC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r>
              <a:rPr lang="en-GB"/>
              <a:t>Technical Challenges</a:t>
            </a:r>
            <a:endParaRPr lang="en-GB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5F5FE-122B-3D9A-9AF2-1802223E3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469" y="1711623"/>
            <a:ext cx="4002936" cy="363793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>
                <a:ea typeface="Calibri" panose="020F0502020204030204"/>
                <a:cs typeface="Calibri" panose="020F0502020204030204"/>
              </a:rPr>
              <a:t>Writing in a new language (Dart)</a:t>
            </a:r>
          </a:p>
          <a:p>
            <a:r>
              <a:rPr lang="en-GB"/>
              <a:t>Using AWS</a:t>
            </a:r>
          </a:p>
          <a:p>
            <a:r>
              <a:rPr lang="en-GB"/>
              <a:t>Rewriting code for modularity</a:t>
            </a:r>
          </a:p>
          <a:p>
            <a:pPr>
              <a:buClr>
                <a:srgbClr val="FFFFFF"/>
              </a:buClr>
            </a:pPr>
            <a:r>
              <a:rPr lang="en-GB">
                <a:ea typeface="Calibri" panose="020F0502020204030204"/>
                <a:cs typeface="Calibri" panose="020F0502020204030204"/>
              </a:rPr>
              <a:t>GitHub actions going down</a:t>
            </a:r>
          </a:p>
          <a:p>
            <a:pPr>
              <a:buClr>
                <a:srgbClr val="FFFFFF"/>
              </a:buClr>
            </a:pPr>
            <a:r>
              <a:rPr lang="en-GB">
                <a:ea typeface="Calibri" panose="020F0502020204030204"/>
                <a:cs typeface="Calibri" panose="020F0502020204030204"/>
              </a:rPr>
              <a:t>Widget sizing on phones (testing day)</a:t>
            </a:r>
            <a:endParaRPr lang="en-GB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Picture 4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223C7267-DA44-5225-190F-08F6BB042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655" y="796413"/>
            <a:ext cx="3533787" cy="5102943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 descr="A colorful lines on a white background&#10;&#10;AI-generated content may be incorrect.">
            <a:extLst>
              <a:ext uri="{FF2B5EF4-FFF2-40B4-BE49-F238E27FC236}">
                <a16:creationId xmlns:a16="http://schemas.microsoft.com/office/drawing/2014/main" id="{2D6E18BF-C536-8142-3829-E28B1F01D5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5005118"/>
            <a:ext cx="4524375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3527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5D8C0-4994-5CD6-C87B-D312179D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Issues We Faced – Project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1CD10-314A-0C6F-0BA7-42DEA4B3F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Unequal TB1 Workload</a:t>
            </a:r>
          </a:p>
          <a:p>
            <a:r>
              <a:rPr lang="en-GB"/>
              <a:t>Kanban board not being used effectively</a:t>
            </a:r>
          </a:p>
          <a:p>
            <a:r>
              <a:rPr lang="en-GB"/>
              <a:t>PR content not being discussed within pr's, meaning some details were forgotten.</a:t>
            </a:r>
            <a:endParaRPr lang="en-GB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58348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05B26-9A89-3296-B8AE-0209145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Main Release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B6E6B-6D06-CA61-5DE9-4BE764261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GB"/>
              <a:t>Prototype </a:t>
            </a:r>
            <a:r>
              <a:rPr lang="en-GB" err="1"/>
              <a:t>ElevenLabs</a:t>
            </a:r>
            <a:r>
              <a:rPr lang="en-GB"/>
              <a:t> voices instead of OpenAI.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342900" indent="-342900">
              <a:buAutoNum type="arabicPeriod"/>
            </a:pPr>
            <a:r>
              <a:rPr lang="en-GB"/>
              <a:t>Increase code coverage.</a:t>
            </a:r>
            <a:endParaRPr lang="en-GB">
              <a:ea typeface="Calibri"/>
              <a:cs typeface="Calibri"/>
            </a:endParaRPr>
          </a:p>
          <a:p>
            <a:pPr marL="342900" indent="-342900">
              <a:buClr>
                <a:srgbClr val="FFFFFF"/>
              </a:buClr>
              <a:buAutoNum type="arabicPeriod"/>
            </a:pPr>
            <a:r>
              <a:rPr lang="en-GB">
                <a:ea typeface="Calibri"/>
                <a:cs typeface="Calibri"/>
              </a:rPr>
              <a:t>FastF1 Integration</a:t>
            </a:r>
          </a:p>
          <a:p>
            <a:pPr marL="342900" indent="-342900">
              <a:buClr>
                <a:srgbClr val="FFFFFF"/>
              </a:buClr>
              <a:buAutoNum type="arabicPeriod"/>
            </a:pPr>
            <a:r>
              <a:rPr lang="en-GB">
                <a:ea typeface="Calibri"/>
                <a:cs typeface="Calibri"/>
              </a:rPr>
              <a:t>Allow users to upload their own race data</a:t>
            </a:r>
          </a:p>
          <a:p>
            <a:pPr>
              <a:buAutoNum type="arabicPeriod"/>
            </a:pPr>
            <a:endParaRPr lang="en-GB">
              <a:ea typeface="Calibri"/>
              <a:cs typeface="Calibri"/>
            </a:endParaRPr>
          </a:p>
        </p:txBody>
      </p:sp>
      <p:pic>
        <p:nvPicPr>
          <p:cNvPr id="4" name="Picture 3" descr="A race track with colorful lights&#10;&#10;AI-generated content may be incorrect.">
            <a:extLst>
              <a:ext uri="{FF2B5EF4-FFF2-40B4-BE49-F238E27FC236}">
                <a16:creationId xmlns:a16="http://schemas.microsoft.com/office/drawing/2014/main" id="{1429CCF5-D9DF-A67E-1656-5D22D5A70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577" y="2064151"/>
            <a:ext cx="5883102" cy="413844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4DA73AE-24EB-215C-D144-B230062B7FDC}"/>
              </a:ext>
            </a:extLst>
          </p:cNvPr>
          <p:cNvCxnSpPr/>
          <p:nvPr/>
        </p:nvCxnSpPr>
        <p:spPr>
          <a:xfrm flipH="1">
            <a:off x="11173446" y="1142394"/>
            <a:ext cx="27937" cy="1151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F605F8D-F07A-5BFA-85AA-AC8618775B45}"/>
              </a:ext>
            </a:extLst>
          </p:cNvPr>
          <p:cNvCxnSpPr>
            <a:cxnSpLocks/>
          </p:cNvCxnSpPr>
          <p:nvPr/>
        </p:nvCxnSpPr>
        <p:spPr>
          <a:xfrm flipV="1">
            <a:off x="5980512" y="2503949"/>
            <a:ext cx="734062" cy="622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273A12F-1B02-A82C-F005-179D6FCB0884}"/>
              </a:ext>
            </a:extLst>
          </p:cNvPr>
          <p:cNvCxnSpPr>
            <a:cxnSpLocks/>
          </p:cNvCxnSpPr>
          <p:nvPr/>
        </p:nvCxnSpPr>
        <p:spPr>
          <a:xfrm>
            <a:off x="7579062" y="992479"/>
            <a:ext cx="463987" cy="1123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2A68819-7D78-E36F-3DAC-032AD96D9B37}"/>
              </a:ext>
            </a:extLst>
          </p:cNvPr>
          <p:cNvSpPr txBox="1"/>
          <p:nvPr/>
        </p:nvSpPr>
        <p:spPr>
          <a:xfrm>
            <a:off x="5316300" y="2947986"/>
            <a:ext cx="156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rgbClr val="92D050"/>
                </a:solidFill>
                <a:ea typeface="Calibri"/>
                <a:cs typeface="Calibri"/>
              </a:rPr>
              <a:t>Event Indicator</a:t>
            </a:r>
            <a:endParaRPr lang="en-GB">
              <a:solidFill>
                <a:srgbClr val="92D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8734B9-02C9-4C4A-EB74-02E5F5127C5F}"/>
              </a:ext>
            </a:extLst>
          </p:cNvPr>
          <p:cNvSpPr txBox="1"/>
          <p:nvPr/>
        </p:nvSpPr>
        <p:spPr>
          <a:xfrm>
            <a:off x="10409160" y="777733"/>
            <a:ext cx="156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rgbClr val="92D050"/>
                </a:solidFill>
                <a:ea typeface="Calibri"/>
                <a:cs typeface="Calibri"/>
              </a:rPr>
              <a:t>Leaderboard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F97A3D-DB25-A338-EBEC-C684C5D2953D}"/>
              </a:ext>
            </a:extLst>
          </p:cNvPr>
          <p:cNvSpPr txBox="1"/>
          <p:nvPr/>
        </p:nvSpPr>
        <p:spPr>
          <a:xfrm>
            <a:off x="6753489" y="777733"/>
            <a:ext cx="156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rgbClr val="92D050"/>
                </a:solidFill>
                <a:ea typeface="Calibri"/>
                <a:cs typeface="Calibri"/>
              </a:rPr>
              <a:t>Multiple cars</a:t>
            </a:r>
          </a:p>
        </p:txBody>
      </p:sp>
    </p:spTree>
    <p:extLst>
      <p:ext uri="{BB962C8B-B14F-4D97-AF65-F5344CB8AC3E}">
        <p14:creationId xmlns:p14="http://schemas.microsoft.com/office/powerpoint/2010/main" val="27218289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3FB1D-D794-7D98-C96D-74361F08F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4333" y="2857018"/>
            <a:ext cx="10131425" cy="1456267"/>
          </a:xfrm>
        </p:spPr>
        <p:txBody>
          <a:bodyPr>
            <a:normAutofit/>
          </a:bodyPr>
          <a:lstStyle/>
          <a:p>
            <a:r>
              <a:rPr lang="en-GB" sz="8800">
                <a:latin typeface="Rockwell"/>
              </a:rPr>
              <a:t>Questions?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3F6FE6-A27E-2378-EC99-1922B4CB2E97}"/>
              </a:ext>
            </a:extLst>
          </p:cNvPr>
          <p:cNvSpPr txBox="1"/>
          <p:nvPr/>
        </p:nvSpPr>
        <p:spPr>
          <a:xfrm>
            <a:off x="665807" y="680282"/>
            <a:ext cx="642649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400" i="1" u="sng">
                <a:ea typeface="Calibri"/>
                <a:cs typeface="Calibri"/>
              </a:rPr>
              <a:t>Thank you!</a:t>
            </a:r>
          </a:p>
        </p:txBody>
      </p:sp>
      <p:pic>
        <p:nvPicPr>
          <p:cNvPr id="5" name="Picture 4" descr="A qr code with a dinosaur&#10;&#10;AI-generated content may be incorrect.">
            <a:extLst>
              <a:ext uri="{FF2B5EF4-FFF2-40B4-BE49-F238E27FC236}">
                <a16:creationId xmlns:a16="http://schemas.microsoft.com/office/drawing/2014/main" id="{A15B463C-09EA-013B-AE5A-9D7FF22793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3612"/>
          <a:stretch>
            <a:fillRect/>
          </a:stretch>
        </p:blipFill>
        <p:spPr>
          <a:xfrm>
            <a:off x="8785012" y="188823"/>
            <a:ext cx="3161070" cy="3045244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28093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26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Celestial</vt:lpstr>
      <vt:lpstr>F1-AI Commentary</vt:lpstr>
      <vt:lpstr>Project Brief and Client</vt:lpstr>
      <vt:lpstr>F1 Fans</vt:lpstr>
      <vt:lpstr>Sim Racers</vt:lpstr>
      <vt:lpstr>User Survey</vt:lpstr>
      <vt:lpstr>Survey Key Findings</vt:lpstr>
      <vt:lpstr>Demo</vt:lpstr>
      <vt:lpstr>Architecture Diagram and Description</vt:lpstr>
      <vt:lpstr>Updated Tech Stack</vt:lpstr>
      <vt:lpstr>CI/CD</vt:lpstr>
      <vt:lpstr>Frontend Test Coverage – 75.3%</vt:lpstr>
      <vt:lpstr>Backend Test Coverage – 64 %</vt:lpstr>
      <vt:lpstr>SEP testing day</vt:lpstr>
      <vt:lpstr>User Testing</vt:lpstr>
      <vt:lpstr>TESTING DAY 1 CHANGES</vt:lpstr>
      <vt:lpstr>AI Prototype mock-up</vt:lpstr>
      <vt:lpstr>Pre testing day</vt:lpstr>
      <vt:lpstr>Post testing day</vt:lpstr>
      <vt:lpstr>TESTING DAY 2 CHANGES</vt:lpstr>
      <vt:lpstr>Client Feedback</vt:lpstr>
      <vt:lpstr>Our process</vt:lpstr>
      <vt:lpstr>Project Management </vt:lpstr>
      <vt:lpstr>Technical Challenges</vt:lpstr>
      <vt:lpstr>Issues We Faced – Project Management</vt:lpstr>
      <vt:lpstr>Main Release Roadmap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F1-AI Commentary</dc:title>
  <dc:creator/>
  <cp:revision>249</cp:revision>
  <dcterms:created xsi:type="dcterms:W3CDTF">2026-02-27T16:56:05Z</dcterms:created>
  <dcterms:modified xsi:type="dcterms:W3CDTF">2026-03-06T14:02:48Z</dcterms:modified>
</cp:coreProperties>
</file>